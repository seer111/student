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 页 · 封面</a:t>
            </a:r>
          </a:p>
          <a:p>
            <a:pPr/>
            <a:endParaRPr lang="zh-CN" dirty="0"/>
          </a:p>
          <a:p>
            <a:pPr/>
            <a:r>
              <a:rPr lang="zh-CN" dirty="0"/>
              <a:t>同学们，这门课我们一直在做同一件事：把费曼学习平台一块块搭起来。前面的课，平台已经能记知识点、能听你复述、能用 AI 给你的复述打分。但它还缺一环——没有题，就没法检验你到底学会没有。</a:t>
            </a:r>
          </a:p>
          <a:p>
            <a:pPr/>
            <a:endParaRPr lang="zh-CN" dirty="0"/>
          </a:p>
          <a:p>
            <a:pPr/>
            <a:r>
              <a:rPr lang="zh-CN" dirty="0"/>
              <a:t>今天这节课，我们就给它补上「练」：让 AI 按知识点现场出一道题，答完立刻判分，错了自动进复习列表。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（过渡）在写代码之前，先花几分钟把今天要做的三件事摆清楚。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 页 · 今天做三件事</a:t>
            </a:r>
          </a:p>
          <a:p>
            <a:pPr/>
            <a:endParaRPr lang="zh-CN" dirty="0"/>
          </a:p>
          <a:p>
            <a:pPr/>
            <a:r>
              <a:rPr lang="zh-CN" dirty="0"/>
              <a:t>四段任务，时间已经排好：45 分钟做后端出题，90 分钟做前端答题页，45 分钟讨论 AI 阅卷，最后留时间做挑战任务。</a:t>
            </a:r>
          </a:p>
          <a:p>
            <a:pPr/>
            <a:endParaRPr lang="zh-CN" dirty="0"/>
          </a:p>
          <a:p>
            <a:pPr/>
            <a:r>
              <a:rPr lang="zh-CN" dirty="0"/>
              <a:t>每一段都有明确的交付物：一个能返回题目的接口、一个能答题的页面、一份能判分的 Prompt。不要等全部写完才验证，每做完一段就用 Postman 或浏览器点一次。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（过渡）先回答一个问题：为什么非要补「练」这一环？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3 页 · 能教、能评，还不能练</a:t>
            </a:r>
          </a:p>
          <a:p>
            <a:pPr/>
            <a:endParaRPr lang="zh-CN" dirty="0"/>
          </a:p>
          <a:p>
            <a:pPr/>
            <a:r>
              <a:rPr lang="zh-CN" dirty="0"/>
              <a:t>看这张图：学，已经有了——知识点能录入能阅读；评，也有了——复述能打分、错题能进复习。中间的「练」是空的。</a:t>
            </a:r>
          </a:p>
          <a:p>
            <a:pPr/>
            <a:endParaRPr lang="zh-CN" dirty="0"/>
          </a:p>
          <a:p>
            <a:pPr/>
            <a:r>
              <a:rPr lang="zh-CN" dirty="0"/>
              <a:t>没有题，用户就没有一个客观的尺子去验证自己学会没有；没有分，复习列表就只能靠复述分数来触发，覆盖面很窄。</a:t>
            </a:r>
          </a:p>
          <a:p>
            <a:pPr/>
            <a:endParaRPr lang="zh-CN" dirty="0"/>
          </a:p>
          <a:p>
            <a:pPr/>
            <a:r>
              <a:rPr lang="zh-CN" dirty="0"/>
              <a:t>补法很直接：让 AI 按知识点正文生成一道题，答完立刻给分，错了写回复习列表。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（过渡）这条链路一共有六步，我们先把它画出来。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4 页 · 一条链路</a:t>
            </a:r>
          </a:p>
          <a:p>
            <a:pPr/>
            <a:endParaRPr lang="zh-CN" dirty="0"/>
          </a:p>
          <a:p>
            <a:pPr/>
            <a:r>
              <a:rPr lang="zh-CN" dirty="0"/>
              <a:t>从左到右六步：知识点正文 → 出题 Prompt → LLM → 严格 JSON 题 → 答题页作答 → 评分，最后错了写回复习列表。</a:t>
            </a:r>
          </a:p>
          <a:p>
            <a:pPr/>
            <a:endParaRPr lang="zh-CN" dirty="0"/>
          </a:p>
          <a:p>
            <a:pPr/>
            <a:r>
              <a:rPr lang="zh-CN" dirty="0"/>
              <a:t>请特别看第三个方块：LLM 是整条链路上唯一不可控的环节。所以第 ④ 步要写死格式，第 ⑦ 步要兜底解析——这是今天最容易翻车的地方。</a:t>
            </a:r>
          </a:p>
          <a:p>
            <a:pPr/>
            <a:endParaRPr lang="zh-CN" dirty="0"/>
          </a:p>
          <a:p>
            <a:pPr/>
            <a:r>
              <a:rPr lang="zh-CN" dirty="0"/>
              <a:t>题目对象就六个字段：type、difficulty、question、options、answer、explanation。前三个给页面渲染，answer 给评分，explanation 给讲解。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（过渡）那就从 Prompt 开始，把「格式」写死。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 页 · 出题 Prompt 的三段结构</a:t>
            </a:r>
          </a:p>
          <a:p>
            <a:pPr/>
            <a:endParaRPr lang="zh-CN" dirty="0"/>
          </a:p>
          <a:p>
            <a:pPr/>
            <a:r>
              <a:rPr lang="zh-CN" dirty="0"/>
              <a:t>提示词不是许愿，是把三件事写死：谁来做（角色）、拿什么做（知识点正文 + 难度）、交什么格式（只输出 JSON）。</a:t>
            </a:r>
          </a:p>
          <a:p>
            <a:pPr/>
            <a:endParaRPr lang="zh-CN" dirty="0"/>
          </a:p>
          <a:p>
            <a:pPr/>
            <a:r>
              <a:rPr lang="zh-CN" dirty="0"/>
              <a:t>右边是骨架。注意几个细节：难度只给三档，避免模型自由发挥；options 的键固定成 A/B/C/D，answer 必须从这四个键里取——前端才能直接用字符串比较；约束写成陈述句「只输出一个 JSON 对象」，比写「请不要输出 Markdown」更稳。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（过渡）Prompt 有了，控制器只需要做三件事。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6 页 · 控制器只做三件事</a:t>
            </a:r>
          </a:p>
          <a:p>
            <a:pPr/>
            <a:endParaRPr lang="zh-CN" dirty="0"/>
          </a:p>
          <a:p>
            <a:pPr/>
            <a:r>
              <a:rPr lang="zh-CN" dirty="0"/>
              <a:t>第一，从 req.body 取知识点正文和难度；缺正文直接返回 400 和一句中文提示，别让它带着空串去调模型。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第二，把 Prompt 和参数拼好，调 LLM。temperature 压低到 0.3 左右，max_tokens 给够——一道题加解析大概三四百 token。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第三，JSON.parse 之后原样返回。控制器里不要写业务文案，文案都在 Prompt 里；控制器只负责搬运和兜底。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（过渡）可模型并不总是听话，所以第三件事必须包起来。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 页 · 模型不听话时</a:t>
            </a:r>
          </a:p>
          <a:p>
            <a:pPr/>
            <a:endParaRPr lang="zh-CN" dirty="0"/>
          </a:p>
          <a:p>
            <a:pPr/>
            <a:r>
              <a:rPr lang="zh-CN" dirty="0"/>
              <a:t>解析失败不是意外，是常态。模型可能给你三段反引号包起来的 JSON，可能前面加一句「好的，题目如下」，也可能字段名写成下划线。</a:t>
            </a:r>
          </a:p>
          <a:p>
            <a:pPr/>
            <a:endParaRPr lang="zh-CN" dirty="0"/>
          </a:p>
          <a:p>
            <a:pPr/>
            <a:r>
              <a:rPr lang="zh-CN" dirty="0"/>
              <a:t>所以：try/catch 包住 parse，catch 里先把原始返回的前 200 字符打进日志——这是下一个人定位问题的唯一线索——再返回 500 和一句可读的中文提示，前端才不会白屏。</a:t>
            </a:r>
          </a:p>
          <a:p>
            <a:pPr/>
            <a:endParaRPr lang="zh-CN" dirty="0"/>
          </a:p>
          <a:p>
            <a:pPr/>
            <a:r>
              <a:rPr lang="zh-CN" dirty="0"/>
              <a:t>右边四个用例请在 Postman 里各跑一次。失败路径不能复现，上课现场就是事故。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（过渡）后端通了，接下来是前端考场。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8 页 · 五个 state</a:t>
            </a:r>
          </a:p>
          <a:p>
            <a:pPr/>
            <a:endParaRPr lang="zh-CN" dirty="0"/>
          </a:p>
          <a:p>
            <a:pPr/>
            <a:r>
              <a:rPr lang="zh-CN" dirty="0"/>
              <a:t>写页面之前先把状态写全，这是这节课最重要的习惯。五个变量：知识点、加载中、题目、已选项、结果。</a:t>
            </a:r>
          </a:p>
          <a:p>
            <a:pPr/>
            <a:endParaRPr lang="zh-CN" dirty="0"/>
          </a:p>
          <a:p>
            <a:pPr/>
            <a:r>
              <a:rPr lang="zh-CN" dirty="0"/>
              <a:t>它们之间有互斥关系：isLoading 为真时，题目和结果都不显示；selectedOption 依附在题目上；result 出现后，selectedOption 就可以丢了。</a:t>
            </a:r>
          </a:p>
          <a:p>
            <a:pPr/>
            <a:endParaRPr lang="zh-CN" dirty="0"/>
          </a:p>
          <a:p>
            <a:pPr/>
            <a:r>
              <a:rPr lang="zh-CN" dirty="0"/>
              <a:t>这五个值一确定，页面该显示哪一段就是唯一解——你不需要再写一堆 if 判断「显示逻辑」，只需要把 JSX 按状态切开。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（过渡）接下来把这五个状态串成一条串行流程。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9 页 · 串行，是骨架</a:t>
            </a:r>
          </a:p>
          <a:p>
            <a:pPr/>
            <a:endParaRPr lang="zh-CN" dirty="0"/>
          </a:p>
          <a:p>
            <a:pPr/>
            <a:r>
              <a:rPr lang="zh-CN" dirty="0"/>
              <a:t>进页面先 GET 知识点，拿到正文；然后用户选难度，POST 出题，这期间置 isLoading 并显示「AI 正在出题中」；出题成功后渲染单选项；提交时比较 selectedOption 与 answer；答错再写回复习列表。</a:t>
            </a:r>
          </a:p>
          <a:p>
            <a:pPr/>
            <a:endParaRPr lang="zh-CN" dirty="0"/>
          </a:p>
          <a:p>
            <a:pPr/>
            <a:r>
              <a:rPr lang="zh-CN" dirty="0"/>
              <a:t>整个过程没有并发。失败点只有两个接口，所以错误提示也只需要两处。</a:t>
            </a:r>
          </a:p>
          <a:p>
            <a:pPr/>
            <a:endParaRPr lang="zh-CN" dirty="0"/>
          </a:p>
          <a:p>
            <a:pPr/>
            <a:r>
              <a:rPr lang="zh-CN" dirty="0"/>
              <a:t>代码里最容易漏的是 setIsLoading(true) 的位置——它要在发请求之前就置上，而不是等请求回来。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（过渡）比较答案只是一行，真正要讲的是错的那一支。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10 页 · 判对错只要一行</a:t>
            </a:r>
          </a:p>
          <a:p>
            <a:pPr/>
            <a:endParaRPr lang="zh-CN" dirty="0"/>
          </a:p>
          <a:p>
            <a:pPr/>
            <a:r>
              <a:rPr lang="zh-CN" dirty="0"/>
              <a:t>selectedOption === question.answer，就这一行。因为我们在 Prompt 里把 answer 固定成选项键，前端可以直接比字符串。</a:t>
            </a:r>
          </a:p>
          <a:p>
            <a:pPr/>
            <a:endParaRPr lang="zh-CN" dirty="0"/>
          </a:p>
          <a:p>
            <a:pPr/>
            <a:r>
              <a:rPr lang="zh-CN" dirty="0"/>
              <a:t>答对：显示正确与解析，给一个「再来一题」。答错：显示正确答案与解析，同时 PUT 一次，把 reviewList 置为 true。</a:t>
            </a:r>
          </a:p>
          <a:p>
            <a:pPr/>
            <a:endParaRPr lang="zh-CN" dirty="0"/>
          </a:p>
          <a:p>
            <a:pPr/>
            <a:r>
              <a:rPr lang="zh-CN" dirty="0"/>
              <a:t>为什么写「复习列表」而不是单独做个「错题本」？因为复述评分差也会进复习列表——复习计划只有一处，用户才不用在两三个列表之间来回看。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（过渡）但字符串比较只能判选择题，简答题怎么办？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11 页 · 把考场挂到平台上</a:t>
            </a:r>
          </a:p>
          <a:p>
            <a:pPr/>
            <a:endParaRPr lang="zh-CN" dirty="0"/>
          </a:p>
          <a:p>
            <a:pPr/>
            <a:r>
              <a:rPr lang="zh-CN" dirty="0"/>
              <a:t>三个节点：Dashboard 卡片上加一个「开始测评」链接；App.jsx 里加一条路由 /quiz/:id；QuizPage 用这个 id 去拉知识点正文。</a:t>
            </a:r>
          </a:p>
          <a:p>
            <a:pPr/>
            <a:endParaRPr lang="zh-CN" dirty="0"/>
          </a:p>
          <a:p>
            <a:pPr/>
            <a:r>
              <a:rPr lang="zh-CN" dirty="0"/>
              <a:t>传参不需要额外设计——id 就是知识点 _id，页面拿到它就知道该给谁出题。</a:t>
            </a:r>
          </a:p>
          <a:p>
            <a:pPr/>
            <a:endParaRPr lang="zh-CN" dirty="0"/>
          </a:p>
          <a:p>
            <a:pPr/>
            <a:r>
              <a:rPr lang="zh-CN" dirty="0"/>
              <a:t>一个细节：入口要放进卡片的操作区，和「开始复述」并列，不要挤掉原来那个主按钮。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（过渡）改完点一次，URL 里出现 /quiz/ 加 24 位 id，链路就通了。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12 页 · 开放答案，只能交给阅卷老师</a:t>
            </a:r>
          </a:p>
          <a:p>
            <a:pPr/>
            <a:endParaRPr lang="zh-CN" dirty="0"/>
          </a:p>
          <a:p>
            <a:pPr/>
            <a:r>
              <a:rPr lang="zh-CN" dirty="0"/>
              <a:t>左边选择题，前端一行比较就够，确定性判断、零成本。</a:t>
            </a:r>
          </a:p>
          <a:p>
            <a:pPr/>
            <a:endParaRPr lang="zh-CN" dirty="0"/>
          </a:p>
          <a:p>
            <a:pPr/>
            <a:r>
              <a:rPr lang="zh-CN" dirty="0"/>
              <a:t>右边简答题不行：答案不唯一，措辞千变万化，字符串比较会把「基本正确」判成错。只能让模型按「答案要点」判分。</a:t>
            </a:r>
          </a:p>
          <a:p>
            <a:pPr/>
            <a:endParaRPr lang="zh-CN" dirty="0"/>
          </a:p>
          <a:p>
            <a:pPr/>
            <a:r>
              <a:rPr lang="zh-CN" dirty="0"/>
              <a:t>所以出题时就要多给一份 answer_key_points；评分 Prompt 吃三样：题目、要点、学生回答，吐一个 { isCorrect, explanation }。</a:t>
            </a:r>
          </a:p>
          <a:p>
            <a:pPr/>
            <a:endParaRPr lang="zh-CN" dirty="0"/>
          </a:p>
          <a:p>
            <a:pPr/>
            <a:r>
              <a:rPr lang="zh-CN" dirty="0"/>
              <a:t>要点写得越具体，判分越稳定。写「理解闭包」，模型只能猜；写「能说出闭包捕获外层变量、且该变量不会被回收」，它就有据可依。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（过渡）把这件事拆成任务，就是四个可勾选的点。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13 页 · 挑战任务拆解</a:t>
            </a:r>
          </a:p>
          <a:p>
            <a:pPr/>
            <a:endParaRPr lang="zh-CN" dirty="0"/>
          </a:p>
          <a:p>
            <a:pPr/>
            <a:r>
              <a:rPr lang="zh-CN" dirty="0"/>
              <a:t>挑战任务看着大，拆开就四个点。后端两个：generateQuestion 加 type 参数，切换两套 Prompt；新增 gradeAnswer，接题目、要点、学生回答。</a:t>
            </a:r>
          </a:p>
          <a:p>
            <a:pPr/>
            <a:endParaRPr lang="zh-CN" dirty="0"/>
          </a:p>
          <a:p>
            <a:pPr/>
            <a:r>
              <a:rPr lang="zh-CN" dirty="0"/>
              <a:t>前端两个：按 question.type 渲染输入框，单选渲染 radio，简答渲染 textarea；提交时按类型分流，简答题走 /ai/grade-answer，不再在前端比较。</a:t>
            </a:r>
          </a:p>
          <a:p>
            <a:pPr/>
            <a:endParaRPr lang="zh-CN" dirty="0"/>
          </a:p>
          <a:p>
            <a:pPr/>
            <a:r>
              <a:rPr lang="zh-CN" dirty="0"/>
              <a:t>顺序建议：先做后端两个点，用 Postman 各跑一次；再改前端。否则前端调不通时，你分不清是后端没返回还是前端没解析。</a:t>
            </a:r>
          </a:p>
          <a:p>
            <a:pPr/>
            <a:endParaRPr lang="zh-CN" dirty="0"/>
          </a:p>
          <a:p>
            <a:pPr/>
            <a:r>
              <a:rPr lang="zh-CN" dirty="0"/>
              <a:t>验收很简单：同一个知识点，单选题和简答题各跑一遍，错题都进入复习列表。</a:t>
            </a:r>
          </a:p>
          <a:p>
            <a:pPr/>
            <a:endParaRPr lang="zh-CN" dirty="0"/>
          </a:p>
          <a:p>
            <a:pPr/>
            <a:r>
              <a:rPr lang="zh-CN" dirty="0"/>
              <a:t>（过渡）最后，把今天带走的东西收一收。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14 页 · 今天带走三句话</a:t>
            </a:r>
          </a:p>
          <a:p>
            <a:pPr/>
            <a:endParaRPr lang="zh-CN" dirty="0"/>
          </a:p>
          <a:p>
            <a:pPr/>
            <a:r>
              <a:rPr lang="zh-CN" dirty="0"/>
              <a:t>第一句：Prompt 要写死角色、输入、输出格式。第二句：答题页是状态驱动的串行流程。第三句：错题回流复习列表，闭环才闭合。</a:t>
            </a:r>
          </a:p>
          <a:p>
            <a:pPr/>
            <a:endParaRPr lang="zh-CN" dirty="0"/>
          </a:p>
          <a:p>
            <a:pPr/>
            <a:r>
              <a:rPr lang="zh-CN" dirty="0"/>
              <a:t>必做作业：单选全流程跑通，交截图加一条错题的复习状态。挑战作业：把简答题支持做完，先 Postman 后前端。</a:t>
            </a:r>
          </a:p>
          <a:p>
            <a:pPr/>
            <a:endParaRPr lang="zh-CN" dirty="0"/>
          </a:p>
          <a:p>
            <a:pPr/>
            <a:r>
              <a:rPr lang="zh-CN" dirty="0"/>
              <a:t>下节课我们讲 RAG 检索增强生成——让你的知识库真正被 AI 用起来，而不是把整篇文档塞进 Prompt。</a:t>
            </a:r>
          </a:p>
          <a:p>
            <a:pPr/>
            <a:endParaRPr lang="zh-CN" dirty="0"/>
          </a:p>
          <a:p>
            <a:pPr/>
            <a:r>
              <a:rPr lang="zh-CN" dirty="0"/>
              <a:t>今天的意义在于：平台从「能教、能评」变成了「能练、能评、能复习」，学-练-评，今天闭合。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urse09-ai-quiz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urse09-ai-quiz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8347815" y="1009650"/>
            <a:ext cx="2720235" cy="3305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7250" b="1" dirty="0">
                <a:solidFill>
                  <a:schemeClr val="accent1">
                    <a:alphaMod val="5000"/>
                  </a:schemeClr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1276350"/>
            <a:ext cx="22331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《大前端与AI实战》· 第九次课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7750" y="1778000"/>
            <a:ext cx="5974842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让平台「能练」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5370" y="2921000"/>
            <a:ext cx="311696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 出题与智能测评系统</a:t>
            </a:r>
          </a:p>
        </p:txBody>
      </p:sp>
      <p:sp>
        <p:nvSpPr>
          <p:cNvPr id="7" name="Line 7"/>
          <p:cNvSpPr/>
          <p:nvPr/>
        </p:nvSpPr>
        <p:spPr>
          <a:xfrm>
            <a:off x="1066800" y="37338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9180" y="4051300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知识点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92630" y="403860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92680" y="405130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一道可评分的题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40530" y="403860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40580" y="4051300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错题回到复习计划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9942" y="4787900"/>
            <a:ext cx="40301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能教、能评，还差一个「能练」——今天把它补上。</a:t>
            </a:r>
          </a:p>
        </p:txBody>
      </p:sp>
      <p:sp>
        <p:nvSpPr>
          <p:cNvPr id="14" name="Line 14"/>
          <p:cNvSpPr/>
          <p:nvPr/>
        </p:nvSpPr>
        <p:spPr>
          <a:xfrm>
            <a:off x="1066800" y="58293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061085" y="6032500"/>
            <a:ext cx="29364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费曼学习平台 · 4 小时实验课 · 第 2–3 小时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39004" y="60325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02 /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762000"/>
            <a:ext cx="13287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开课 · 今天做什么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084" y="1098550"/>
            <a:ext cx="547954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今天做三件事，把「练」接进闭环</a:t>
            </a:r>
          </a:p>
        </p:txBody>
      </p:sp>
      <p:sp>
        <p:nvSpPr>
          <p:cNvPr id="6" name="Line 6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8418" y="1854200"/>
            <a:ext cx="71724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后端出题、前端考场、AI 阅卷三段拼起来，就是一条能跑通的练习闭环。</a:t>
            </a:r>
          </a:p>
        </p:txBody>
      </p:sp>
      <p:sp>
        <p:nvSpPr>
          <p:cNvPr id="8" name="Line 8"/>
          <p:cNvSpPr/>
          <p:nvPr/>
        </p:nvSpPr>
        <p:spPr>
          <a:xfrm>
            <a:off x="1333500" y="2781300"/>
            <a:ext cx="9791700" cy="9525"/>
          </a:xfrm>
          <a:custGeom>
            <a:avLst/>
            <a:gdLst/>
            <a:ahLst/>
            <a:cxnLst/>
            <a:rect l="l" t="t" r="r" b="b"/>
            <a:pathLst>
              <a:path w="9791700" h="9525">
                <a:moveTo>
                  <a:pt x="0" y="0"/>
                </a:moveTo>
                <a:lnTo>
                  <a:pt x="97917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9" name="Ellipse 9"/>
          <p:cNvSpPr/>
          <p:nvPr/>
        </p:nvSpPr>
        <p:spPr>
          <a:xfrm>
            <a:off x="1238250" y="2686050"/>
            <a:ext cx="190500" cy="190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94937" y="2406650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45 min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9561" y="3079750"/>
            <a:ext cx="11408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① 后端出题官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1085" y="3403600"/>
            <a:ext cx="25168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出题 Prompt、generateQuestion、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1085" y="3632200"/>
            <a:ext cx="20529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JSON 容错与 Postman 验证。</a:t>
            </a:r>
          </a:p>
        </p:txBody>
      </p:sp>
      <p:sp>
        <p:nvSpPr>
          <p:cNvPr id="14" name="Ellipse 14"/>
          <p:cNvSpPr/>
          <p:nvPr/>
        </p:nvSpPr>
        <p:spPr>
          <a:xfrm>
            <a:off x="4400550" y="2686050"/>
            <a:ext cx="190500" cy="190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257237" y="2406650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90 min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21861" y="3079750"/>
            <a:ext cx="94973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② 前端考场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23385" y="3403600"/>
            <a:ext cx="22301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QuizPage 五个状态与串行流程，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23385" y="3632200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错题写入复习列表。</a:t>
            </a:r>
          </a:p>
        </p:txBody>
      </p:sp>
      <p:sp>
        <p:nvSpPr>
          <p:cNvPr id="19" name="Ellipse 19"/>
          <p:cNvSpPr/>
          <p:nvPr/>
        </p:nvSpPr>
        <p:spPr>
          <a:xfrm>
            <a:off x="7562850" y="2686050"/>
            <a:ext cx="190500" cy="190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19537" y="2406650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45 min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84161" y="3079750"/>
            <a:ext cx="15856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③ AI 阅卷（讨论）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85685" y="3403600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简答题为什么必须交给模型评分，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85685" y="3632200"/>
            <a:ext cx="1540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评分 Prompt 怎么写。</a:t>
            </a:r>
          </a:p>
        </p:txBody>
      </p:sp>
      <p:sp>
        <p:nvSpPr>
          <p:cNvPr id="24" name="Ellipse 24"/>
          <p:cNvSpPr/>
          <p:nvPr/>
        </p:nvSpPr>
        <p:spPr>
          <a:xfrm>
            <a:off x="10725150" y="2686050"/>
            <a:ext cx="190500" cy="190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673715" y="2406650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06A1F"/>
                </a:solidFill>
                <a:latin typeface="Consolas"/>
                <a:ea typeface="Microsoft YaHei"/>
                <a:cs typeface="Consolas"/>
              </a:rPr>
              <a:t>交付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89161" y="3079750"/>
            <a:ext cx="94973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B06A1F"/>
                </a:solidFill>
                <a:latin typeface="+mn-lt"/>
                <a:ea typeface="+mn-ea"/>
                <a:cs typeface="+mn-cs"/>
              </a:rPr>
              <a:t>④ 挑战任务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066800" y="4191000"/>
            <a:ext cx="10058400" cy="819150"/>
          </a:xfrm>
          <a:prstGeom prst="roundRect">
            <a:avLst>
              <a:gd name="adj" fmla="val 11628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288923" y="4362450"/>
            <a:ext cx="6877213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每段都有可交付物：一个能返回本题的接口、一个能答题的页面、一份能判分的 Prompt。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9685" y="4641850"/>
            <a:ext cx="53922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跟做建议：先照抄跑通，再改字段；卡住时先看 Postman 的返回，再怀疑页面。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0704" y="5372100"/>
            <a:ext cx="55196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本节课件对应源码：feynman-platform（React + Express + MongoDB）。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60704" y="5676900"/>
            <a:ext cx="30330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前 20 分钟讲「为什么」，后面全是动手。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03 /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762000"/>
            <a:ext cx="202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1 · 为什么要有「练」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084" y="1098550"/>
            <a:ext cx="366217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能教、能评，还不能练</a:t>
            </a:r>
          </a:p>
        </p:txBody>
      </p:sp>
      <p:sp>
        <p:nvSpPr>
          <p:cNvPr id="6" name="Line 6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8418" y="1854200"/>
            <a:ext cx="536992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没有题就没有练，没有分就没有评——闭环断在「练」。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1066800" y="2552700"/>
            <a:ext cx="2857500" cy="114300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88542" y="2730500"/>
            <a:ext cx="1954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9685" y="3041650"/>
            <a:ext cx="12176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知识点录入与阅读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9685" y="3270250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已有：完成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762500" y="2552700"/>
            <a:ext cx="2857500" cy="114300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 w="19050">
            <a:solidFill>
              <a:schemeClr val="accent3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984242" y="2730500"/>
            <a:ext cx="1954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06A1F"/>
                </a:solidFill>
                <a:latin typeface="+mn-lt"/>
                <a:ea typeface="+mn-ea"/>
                <a:cs typeface="+mn-cs"/>
              </a:rPr>
              <a:t>练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85385" y="3041650"/>
            <a:ext cx="12176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没有可判分的题目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85385" y="3270250"/>
            <a:ext cx="10668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06A1F"/>
                </a:solidFill>
                <a:latin typeface="+mn-lt"/>
                <a:ea typeface="+mn-ea"/>
                <a:cs typeface="+mn-cs"/>
              </a:rPr>
              <a:t>缺口：今天补上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458200" y="2552700"/>
            <a:ext cx="2667000" cy="114300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679942" y="2730500"/>
            <a:ext cx="1954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81085" y="3041650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复述评分与复习列表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81085" y="3270250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已有：可用但无输入</a:t>
            </a:r>
          </a:p>
        </p:txBody>
      </p:sp>
      <p:sp>
        <p:nvSpPr>
          <p:cNvPr id="20" name="Line 20"/>
          <p:cNvSpPr/>
          <p:nvPr/>
        </p:nvSpPr>
        <p:spPr>
          <a:xfrm>
            <a:off x="3924300" y="31242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21" name="Line 21"/>
          <p:cNvSpPr/>
          <p:nvPr/>
        </p:nvSpPr>
        <p:spPr>
          <a:xfrm>
            <a:off x="7696200" y="3124200"/>
            <a:ext cx="685800" cy="9525"/>
          </a:xfrm>
          <a:custGeom>
            <a:avLst/>
            <a:gdLst/>
            <a:ahLst/>
            <a:cxnLst/>
            <a:rect l="l" t="t" r="r" b="b"/>
            <a:pathLst>
              <a:path w="685800" h="952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22" name="Line 22"/>
          <p:cNvSpPr/>
          <p:nvPr/>
        </p:nvSpPr>
        <p:spPr>
          <a:xfrm>
            <a:off x="1066800" y="41529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60323" y="4381500"/>
            <a:ext cx="3895537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补法：让 AI 按知识点生成一道题，答完立刻给分。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0323" y="4705350"/>
            <a:ext cx="3976167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回报：错题自动进复习列表，学习计划自己长出来。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066800" y="5200650"/>
            <a:ext cx="10058400" cy="60960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289304" y="5410200"/>
            <a:ext cx="6312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判断标准很简单：用户能不能在「不写新的学习笔记」的前提下，验证自己真的学会了。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04 /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762000"/>
            <a:ext cx="1536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2 · 后端出题官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084" y="1098550"/>
            <a:ext cx="643275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一条链路：知识点 → 题目 → 分数 → 复习</a:t>
            </a:r>
          </a:p>
        </p:txBody>
      </p:sp>
      <p:sp>
        <p:nvSpPr>
          <p:cNvPr id="6" name="Line 6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8418" y="1854200"/>
            <a:ext cx="51255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出题只是中间一步；真正的价值在末端的复习回流。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1066800" y="2552700"/>
            <a:ext cx="1524000" cy="819150"/>
          </a:xfrm>
          <a:prstGeom prst="roundRect">
            <a:avLst>
              <a:gd name="adj" fmla="val 9302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3104" y="2705100"/>
            <a:ext cx="9640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① 知识点正文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4247" y="3009900"/>
            <a:ext cx="9934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MongoDB 里已有</a:t>
            </a:r>
          </a:p>
        </p:txBody>
      </p:sp>
      <p:sp>
        <p:nvSpPr>
          <p:cNvPr id="11" name="Line 11"/>
          <p:cNvSpPr/>
          <p:nvPr/>
        </p:nvSpPr>
        <p:spPr>
          <a:xfrm>
            <a:off x="2590800" y="2962275"/>
            <a:ext cx="419100" cy="9525"/>
          </a:xfrm>
          <a:custGeom>
            <a:avLst/>
            <a:gdLst/>
            <a:ahLst/>
            <a:cxnLst/>
            <a:rect l="l" t="t" r="r" b="b"/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3009900" y="2552700"/>
            <a:ext cx="1524000" cy="819150"/>
          </a:xfrm>
          <a:prstGeom prst="roundRect">
            <a:avLst>
              <a:gd name="adj" fmla="val 9302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156204" y="2705100"/>
            <a:ext cx="11300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② 出题 Prompt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57347" y="3009900"/>
            <a:ext cx="110490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角色 + 输入 + 格式</a:t>
            </a:r>
          </a:p>
        </p:txBody>
      </p:sp>
      <p:sp>
        <p:nvSpPr>
          <p:cNvPr id="15" name="Line 15"/>
          <p:cNvSpPr/>
          <p:nvPr/>
        </p:nvSpPr>
        <p:spPr>
          <a:xfrm>
            <a:off x="4533900" y="2962275"/>
            <a:ext cx="419100" cy="9525"/>
          </a:xfrm>
          <a:custGeom>
            <a:avLst/>
            <a:gdLst/>
            <a:ahLst/>
            <a:cxnLst/>
            <a:rect l="l" t="t" r="r" b="b"/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0" y="2552700"/>
            <a:ext cx="1333500" cy="819150"/>
          </a:xfrm>
          <a:prstGeom prst="roundRect">
            <a:avLst>
              <a:gd name="adj" fmla="val 9302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099304" y="2705100"/>
            <a:ext cx="4960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③ LLM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00447" y="3009900"/>
            <a:ext cx="93339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唯一不可控环节</a:t>
            </a:r>
          </a:p>
        </p:txBody>
      </p:sp>
      <p:sp>
        <p:nvSpPr>
          <p:cNvPr id="19" name="Line 19"/>
          <p:cNvSpPr/>
          <p:nvPr/>
        </p:nvSpPr>
        <p:spPr>
          <a:xfrm>
            <a:off x="6286500" y="2962275"/>
            <a:ext cx="419100" cy="9525"/>
          </a:xfrm>
          <a:custGeom>
            <a:avLst/>
            <a:gdLst/>
            <a:ahLst/>
            <a:cxnLst/>
            <a:rect l="l" t="t" r="r" b="b"/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705600" y="2552700"/>
            <a:ext cx="1714500" cy="819150"/>
          </a:xfrm>
          <a:prstGeom prst="roundRect">
            <a:avLst>
              <a:gd name="adj" fmla="val 9302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851904" y="2705100"/>
            <a:ext cx="11786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④ 严格 JSON 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3047" y="3009900"/>
            <a:ext cx="106532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所以格式必须卡死</a:t>
            </a:r>
          </a:p>
        </p:txBody>
      </p:sp>
      <p:sp>
        <p:nvSpPr>
          <p:cNvPr id="23" name="Line 23"/>
          <p:cNvSpPr/>
          <p:nvPr/>
        </p:nvSpPr>
        <p:spPr>
          <a:xfrm>
            <a:off x="8420100" y="2962275"/>
            <a:ext cx="419100" cy="9525"/>
          </a:xfrm>
          <a:custGeom>
            <a:avLst/>
            <a:gdLst/>
            <a:ahLst/>
            <a:cxnLst/>
            <a:rect l="l" t="t" r="r" b="b"/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839200" y="2552700"/>
            <a:ext cx="2286000" cy="819150"/>
          </a:xfrm>
          <a:prstGeom prst="roundRect">
            <a:avLst>
              <a:gd name="adj" fmla="val 9302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985504" y="2705100"/>
            <a:ext cx="9640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⑤ 答题页作答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86647" y="3009900"/>
            <a:ext cx="110490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渲染 → 选择 → 提交</a:t>
            </a:r>
          </a:p>
        </p:txBody>
      </p:sp>
      <p:sp>
        <p:nvSpPr>
          <p:cNvPr id="27" name="Line 27"/>
          <p:cNvSpPr/>
          <p:nvPr/>
        </p:nvSpPr>
        <p:spPr>
          <a:xfrm>
            <a:off x="1238250" y="3619500"/>
            <a:ext cx="9525" cy="361950"/>
          </a:xfrm>
          <a:custGeom>
            <a:avLst/>
            <a:gdLst/>
            <a:ahLst/>
            <a:cxnLst/>
            <a:rect l="l" t="t" r="r" b="b"/>
            <a:pathLst>
              <a:path w="952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/>
          <a:ln w="19050">
            <a:solidFill>
              <a:schemeClr val="accent3"/>
            </a:solidFill>
          </a:ln>
        </p:spPr>
      </p:sp>
      <p:sp>
        <p:nvSpPr>
          <p:cNvPr id="28" name="Line 28"/>
          <p:cNvSpPr/>
          <p:nvPr/>
        </p:nvSpPr>
        <p:spPr>
          <a:xfrm>
            <a:off x="1238250" y="3981450"/>
            <a:ext cx="9048750" cy="9525"/>
          </a:xfrm>
          <a:custGeom>
            <a:avLst/>
            <a:gdLst/>
            <a:ahLst/>
            <a:cxnLst/>
            <a:rect l="l" t="t" r="r" b="b"/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/>
          <a:ln w="19050">
            <a:solidFill>
              <a:schemeClr val="accent3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709166" y="3778250"/>
            <a:ext cx="27723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06A1F"/>
                </a:solidFill>
                <a:latin typeface="+mn-lt"/>
                <a:ea typeface="+mn-ea"/>
                <a:cs typeface="+mn-cs"/>
              </a:rPr>
              <a:t>⑥ 评分后：错了写回 reviewList → 复习列表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066800" y="4305300"/>
            <a:ext cx="10058400" cy="914400"/>
          </a:xfrm>
          <a:prstGeom prst="roundRect">
            <a:avLst>
              <a:gd name="adj" fmla="val 10417"/>
            </a:avLst>
          </a:prstGeom>
          <a:solidFill>
            <a:srgbClr val="0F1B2D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290066" y="4483100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题目对象的数据形状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9685" y="4737100"/>
            <a:ext cx="58425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type · difficulty · question · options{A,B,C,D} · answer · explanation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90066" y="4978400"/>
            <a:ext cx="38907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前三个给页面渲染，answer 给评分，explanation 给讲解。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60323" y="5524500"/>
            <a:ext cx="7592802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讲解点：整条链路里，只有 LLM 的输出不受你控制——所以第 ④ 步要写死格式、第 ⑦ 步要兜底解析。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1466" y="5892800"/>
            <a:ext cx="42511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先画链路，再写代码：每一格的输入输出对上了，接口自然就对了。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05 /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762000"/>
            <a:ext cx="1536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2 · 后端出题官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084" y="1098550"/>
            <a:ext cx="415126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出题 Prompt 的三段结构</a:t>
            </a:r>
          </a:p>
        </p:txBody>
      </p:sp>
      <p:sp>
        <p:nvSpPr>
          <p:cNvPr id="6" name="Line 6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8418" y="1854200"/>
            <a:ext cx="645833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提示词不是许愿，是把「谁来做、拿什么做、交什么格式」写死。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1066800" y="2400300"/>
            <a:ext cx="4191000" cy="914400"/>
          </a:xfrm>
          <a:prstGeom prst="roundRect">
            <a:avLst>
              <a:gd name="adj" fmla="val 10417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87780" y="2565400"/>
            <a:ext cx="59932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① 角色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9304" y="2895600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资深计算机老师，负责出一道理科测验题。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066800" y="3467100"/>
            <a:ext cx="4191000" cy="914400"/>
          </a:xfrm>
          <a:prstGeom prst="roundRect">
            <a:avLst>
              <a:gd name="adj" fmla="val 10417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287780" y="3632200"/>
            <a:ext cx="59932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② 输入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9304" y="3962400"/>
            <a:ext cx="31542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知识点正文 + 难度（基础 / 中等 / 困难）。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66800" y="4533900"/>
            <a:ext cx="4191000" cy="914400"/>
          </a:xfrm>
          <a:prstGeom prst="roundRect">
            <a:avLst>
              <a:gd name="adj" fmla="val 10417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287780" y="4699000"/>
            <a:ext cx="59932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③ 输出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9304" y="5029200"/>
            <a:ext cx="36131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只返回 JSON：不要 Markdown 围栏，不要解释。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0" y="2019300"/>
            <a:ext cx="5410200" cy="3810000"/>
          </a:xfrm>
          <a:prstGeom prst="roundRect">
            <a:avLst>
              <a:gd name="adj" fmla="val 2500"/>
            </a:avLst>
          </a:prstGeom>
          <a:solidFill>
            <a:srgbClr val="0F1B2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938266" y="2235200"/>
            <a:ext cx="15089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prompt.js · 出题骨架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37885" y="2584450"/>
            <a:ext cx="1820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Microsoft YaHei"/>
                <a:cs typeface="Consolas"/>
              </a:rPr>
              <a:t>你是一位资深计算机老师。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37885" y="2851150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Microsoft YaHei"/>
                <a:cs typeface="Consolas"/>
              </a:rPr>
              <a:t>【知识点】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66485" y="3117850"/>
            <a:ext cx="201238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B8E8"/>
                </a:solidFill>
                <a:latin typeface="Consolas"/>
                <a:ea typeface="Consolas"/>
                <a:cs typeface="Consolas"/>
              </a:rPr>
              <a:t>${knowledgePointContent}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37885" y="3384550"/>
            <a:ext cx="16925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Microsoft YaHei"/>
                <a:cs typeface="Consolas"/>
              </a:rPr>
              <a:t>【难度】${difficulty}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37885" y="3651250"/>
            <a:ext cx="17433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Microsoft YaHei"/>
                <a:cs typeface="Consolas"/>
              </a:rPr>
              <a:t>只输出一个 JSON 对象：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37885" y="3917950"/>
            <a:ext cx="943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66485" y="4146550"/>
            <a:ext cx="1421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"type": "single",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66485" y="4375150"/>
            <a:ext cx="24992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"difficulty": "${difficulty}",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166485" y="4603750"/>
            <a:ext cx="1556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Microsoft YaHei"/>
                <a:cs typeface="Consolas"/>
              </a:rPr>
              <a:t>"question": "题干",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66485" y="4832350"/>
            <a:ext cx="45816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B8E8"/>
                </a:solidFill>
                <a:latin typeface="Consolas"/>
                <a:ea typeface="Consolas"/>
                <a:cs typeface="Consolas"/>
              </a:rPr>
              <a:t>"options": { "A": "…", "B": "…", "C": "…", "D": "…" },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166485" y="5060950"/>
            <a:ext cx="118178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B8E8"/>
                </a:solidFill>
                <a:latin typeface="Consolas"/>
                <a:ea typeface="Consolas"/>
                <a:cs typeface="Consolas"/>
              </a:rPr>
              <a:t>"answer": "A",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166485" y="5289550"/>
            <a:ext cx="17227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Microsoft YaHei"/>
                <a:cs typeface="Consolas"/>
              </a:rPr>
              <a:t>"explanation": "解析"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37885" y="5518150"/>
            <a:ext cx="943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2" name="Line 32"/>
          <p:cNvSpPr/>
          <p:nvPr/>
        </p:nvSpPr>
        <p:spPr>
          <a:xfrm>
            <a:off x="1066800" y="563880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9525">
            <a:solidFill>
              <a:schemeClr val="accent3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60704" y="5753100"/>
            <a:ext cx="29361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06A1F"/>
                </a:solidFill>
                <a:latin typeface="+mn-lt"/>
                <a:ea typeface="+mn-ea"/>
                <a:cs typeface="+mn-cs"/>
              </a:rPr>
              <a:t>约束写成陈述句，比「请不要……」更稳。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61466" y="6045200"/>
            <a:ext cx="39684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options 的键必须与 answer 的取值一致，前端才能直接比较。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06 /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762000"/>
            <a:ext cx="1536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2 · 后端出题官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084" y="1098550"/>
            <a:ext cx="2935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控制器只做三件事</a:t>
            </a:r>
          </a:p>
        </p:txBody>
      </p:sp>
      <p:sp>
        <p:nvSpPr>
          <p:cNvPr id="6" name="Line 6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8418" y="1854200"/>
            <a:ext cx="601219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取参数、调模型、解析 JSON；业务文案都放在 Prompt 里。</a:t>
            </a:r>
          </a:p>
        </p:txBody>
      </p:sp>
      <p:sp>
        <p:nvSpPr>
          <p:cNvPr id="8" name="Ellipse 8"/>
          <p:cNvSpPr/>
          <p:nvPr/>
        </p:nvSpPr>
        <p:spPr>
          <a:xfrm>
            <a:off x="1066800" y="2628900"/>
            <a:ext cx="304800" cy="30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74994" y="2711450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6380" y="2565400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取值与校验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17904" y="2876550"/>
            <a:ext cx="33965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从 req.body 取正文与难度，缺正文直接 400。</a:t>
            </a:r>
          </a:p>
        </p:txBody>
      </p:sp>
      <p:sp>
        <p:nvSpPr>
          <p:cNvPr id="12" name="Ellipse 12"/>
          <p:cNvSpPr/>
          <p:nvPr/>
        </p:nvSpPr>
        <p:spPr>
          <a:xfrm>
            <a:off x="1066800" y="3619500"/>
            <a:ext cx="304800" cy="30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74994" y="3702050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6380" y="3556000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调模型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17904" y="3867150"/>
            <a:ext cx="36550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temperature 压低，max_tokens 够装一整道题。</a:t>
            </a:r>
          </a:p>
        </p:txBody>
      </p:sp>
      <p:sp>
        <p:nvSpPr>
          <p:cNvPr id="16" name="Ellipse 16"/>
          <p:cNvSpPr/>
          <p:nvPr/>
        </p:nvSpPr>
        <p:spPr>
          <a:xfrm>
            <a:off x="1066800" y="4610100"/>
            <a:ext cx="304800" cy="30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74994" y="4692650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16380" y="4546600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解析并返回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17904" y="4857750"/>
            <a:ext cx="3590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JSON.parse 之后原样返回，字段交给前端渲染。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0" y="2019300"/>
            <a:ext cx="5410200" cy="3619500"/>
          </a:xfrm>
          <a:prstGeom prst="roundRect">
            <a:avLst>
              <a:gd name="adj" fmla="val 2632"/>
            </a:avLst>
          </a:prstGeom>
          <a:solidFill>
            <a:srgbClr val="0F1B2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938266" y="2235200"/>
            <a:ext cx="29136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controllers/aiController.js · 出题接口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37885" y="2603500"/>
            <a:ext cx="45843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const { knowledgePointContent, difficulty } = req.body;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37885" y="2870200"/>
            <a:ext cx="24281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if (!knowledgePointContent) {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66485" y="3136900"/>
            <a:ext cx="446681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FB8E8"/>
                </a:solidFill>
                <a:latin typeface="Consolas"/>
                <a:ea typeface="Microsoft YaHei"/>
                <a:cs typeface="Consolas"/>
              </a:rPr>
              <a:t>return res.status(400).json({ msg: "缺少知识点正文" });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37885" y="3403600"/>
            <a:ext cx="943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37885" y="3937000"/>
            <a:ext cx="51693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const prompt = buildPrompt(knowledgePointContent, difficulty);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37885" y="4203700"/>
            <a:ext cx="28493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const raw = await callLLM(prompt);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37885" y="4470400"/>
            <a:ext cx="27727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B8E8"/>
                </a:solidFill>
                <a:latin typeface="Consolas"/>
                <a:ea typeface="Consolas"/>
                <a:cs typeface="Consolas"/>
              </a:rPr>
              <a:t>const question = JSON.parse(raw);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37885" y="5003800"/>
            <a:ext cx="1587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res.json(question);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0" y="5829300"/>
            <a:ext cx="5410200" cy="381000"/>
          </a:xfrm>
          <a:prstGeom prst="roundRect">
            <a:avLst>
              <a:gd name="adj" fmla="val 15000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937885" y="5937250"/>
            <a:ext cx="24000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POST /api/ai/generate-question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07 /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762000"/>
            <a:ext cx="1536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2 · 后端出题官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084" y="1098550"/>
            <a:ext cx="547954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模型不听话时，接口要体面地失败</a:t>
            </a:r>
          </a:p>
        </p:txBody>
      </p:sp>
      <p:sp>
        <p:nvSpPr>
          <p:cNvPr id="6" name="Line 6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8418" y="1854200"/>
            <a:ext cx="60140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解析失败不是意外，是常态；接口必须给出可读的中文错误。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1066800" y="2400300"/>
            <a:ext cx="5715000" cy="2857500"/>
          </a:xfrm>
          <a:prstGeom prst="roundRect">
            <a:avLst>
              <a:gd name="adj" fmla="val 3333"/>
            </a:avLst>
          </a:prstGeom>
          <a:solidFill>
            <a:srgbClr val="0F1B2D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90066" y="2616200"/>
            <a:ext cx="15160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防御性解析 · 六行骨架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9685" y="2965450"/>
            <a:ext cx="42606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try {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18285" y="3213100"/>
            <a:ext cx="27727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B8E8"/>
                </a:solidFill>
                <a:latin typeface="Consolas"/>
                <a:ea typeface="Consolas"/>
                <a:cs typeface="Consolas"/>
              </a:rPr>
              <a:t>const question = JSON.parse(raw);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8285" y="3460750"/>
            <a:ext cx="1587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res.json(question);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9685" y="3708400"/>
            <a:ext cx="12553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} catch (err) {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8285" y="3956050"/>
            <a:ext cx="4520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2A6A0"/>
                </a:solidFill>
                <a:latin typeface="Consolas"/>
                <a:ea typeface="Microsoft YaHei"/>
                <a:cs typeface="Consolas"/>
              </a:rPr>
              <a:t>console.error("[出题] 不是 JSON：", raw.slice(0, 200));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18285" y="4203700"/>
            <a:ext cx="49056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FB8E8"/>
                </a:solidFill>
                <a:latin typeface="Consolas"/>
                <a:ea typeface="Microsoft YaHei"/>
                <a:cs typeface="Consolas"/>
              </a:rPr>
              <a:t>res.status(500).json({ msg: "AI 返回格式错误，请稍后重试" });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9685" y="4451350"/>
            <a:ext cx="943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0066" y="4787900"/>
            <a:ext cx="24560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再包一层 catch：网络超时与鉴权失败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1380" y="2489200"/>
            <a:ext cx="17527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Postman 验证清单</a:t>
            </a:r>
          </a:p>
        </p:txBody>
      </p:sp>
      <p:sp>
        <p:nvSpPr>
          <p:cNvPr id="19" name="Line 19"/>
          <p:cNvSpPr/>
          <p:nvPr/>
        </p:nvSpPr>
        <p:spPr>
          <a:xfrm>
            <a:off x="7239000" y="2819400"/>
            <a:ext cx="3886200" cy="9525"/>
          </a:xfrm>
          <a:custGeom>
            <a:avLst/>
            <a:gdLst/>
            <a:ahLst/>
            <a:cxnLst/>
            <a:rect l="l" t="t" r="r" b="b"/>
            <a:pathLst>
              <a:path w="3886200" h="9525">
                <a:moveTo>
                  <a:pt x="0" y="0"/>
                </a:moveTo>
                <a:lnTo>
                  <a:pt x="38862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32904" y="3048000"/>
            <a:ext cx="32269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① 正常出题：返回 6 个字段，options 四选一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32904" y="3448050"/>
            <a:ext cx="19184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② 空正文：400 与中文提示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32904" y="3848100"/>
            <a:ext cx="20880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③ 超长正文：不截断、不超时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32904" y="4248150"/>
            <a:ext cx="22495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④ 连续三次同难度：题目不重复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239000" y="4762500"/>
            <a:ext cx="3886200" cy="495300"/>
          </a:xfrm>
          <a:prstGeom prst="roundRect">
            <a:avLst>
              <a:gd name="adj" fmla="val 15385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423785" y="4927600"/>
            <a:ext cx="31776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06A1F"/>
                </a:solidFill>
                <a:latin typeface="+mn-lt"/>
                <a:ea typeface="+mn-ea"/>
                <a:cs typeface="+mn-cs"/>
              </a:rPr>
              <a:t>失败路径必须可复现，否则上课现场就是事故。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1466" y="6045200"/>
            <a:ext cx="45692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日志里保留原始返回的前 200 字符：这是下一个人定位问题的唯一线索。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08 /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762000"/>
            <a:ext cx="13752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3 · 前端考场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084" y="1098550"/>
            <a:ext cx="530416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五个 state 决定答题页长什么样</a:t>
            </a:r>
          </a:p>
        </p:txBody>
      </p:sp>
      <p:sp>
        <p:nvSpPr>
          <p:cNvPr id="6" name="Line 6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8418" y="1854200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页面不是「画出来的」，是被状态驱动的。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1066800" y="2590800"/>
            <a:ext cx="2000250" cy="876300"/>
          </a:xfrm>
          <a:prstGeom prst="roundRect">
            <a:avLst>
              <a:gd name="adj" fmla="val 1087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50823" y="2781300"/>
            <a:ext cx="1345133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knowledgePoint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1966" y="3073400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先有正文，才能出题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276600" y="2590800"/>
            <a:ext cx="2000250" cy="876300"/>
          </a:xfrm>
          <a:prstGeom prst="roundRect">
            <a:avLst>
              <a:gd name="adj" fmla="val 1087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460623" y="2781300"/>
            <a:ext cx="871271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isLoading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61766" y="3073400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出题中，禁用提交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486400" y="2590800"/>
            <a:ext cx="2000250" cy="876300"/>
          </a:xfrm>
          <a:prstGeom prst="roundRect">
            <a:avLst>
              <a:gd name="adj" fmla="val 1087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670423" y="2781300"/>
            <a:ext cx="77113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question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71566" y="3073400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题目、选项、答案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96200" y="2590800"/>
            <a:ext cx="2000250" cy="876300"/>
          </a:xfrm>
          <a:prstGeom prst="roundRect">
            <a:avLst>
              <a:gd name="adj" fmla="val 1087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880223" y="2781300"/>
            <a:ext cx="1345133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selectedOption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81366" y="3073400"/>
            <a:ext cx="13233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用户的 A / B / C / D</a:t>
            </a:r>
          </a:p>
        </p:txBody>
      </p:sp>
      <p:sp>
        <p:nvSpPr>
          <p:cNvPr id="20" name="Rectangle 20"/>
          <p:cNvSpPr/>
          <p:nvPr/>
        </p:nvSpPr>
        <p:spPr>
          <a:xfrm>
            <a:off x="9906000" y="2590800"/>
            <a:ext cx="1219200" cy="876300"/>
          </a:xfrm>
          <a:prstGeom prst="roundRect">
            <a:avLst>
              <a:gd name="adj" fmla="val 1087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0090023" y="2781300"/>
            <a:ext cx="581589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result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91166" y="3073400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对错与解析</a:t>
            </a:r>
          </a:p>
        </p:txBody>
      </p:sp>
      <p:sp>
        <p:nvSpPr>
          <p:cNvPr id="23" name="Line 23"/>
          <p:cNvSpPr/>
          <p:nvPr/>
        </p:nvSpPr>
        <p:spPr>
          <a:xfrm>
            <a:off x="1066800" y="39243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059942" y="4140200"/>
            <a:ext cx="74487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互斥关系：isLoading 与 question / result 不同时成立；selectedOption 依附 question。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9942" y="4464050"/>
            <a:ext cx="639268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这五个变量一确定，页面该显示哪一段就是唯一解——不需要再写「显示逻辑」。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066800" y="5048250"/>
            <a:ext cx="10058400" cy="666750"/>
          </a:xfrm>
          <a:prstGeom prst="roundRect">
            <a:avLst>
              <a:gd name="adj" fmla="val 11429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288923" y="5295900"/>
            <a:ext cx="6459271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习惯：先把 state 写全，再写 JSX；反过来写，一定会在「加载中的那一秒」出错。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09 /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762000"/>
            <a:ext cx="13752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3 · 前端考场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084" y="1098550"/>
            <a:ext cx="402564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串行，是这个页面的骨架</a:t>
            </a:r>
          </a:p>
        </p:txBody>
      </p:sp>
      <p:sp>
        <p:nvSpPr>
          <p:cNvPr id="6" name="Line 6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8418" y="1854200"/>
            <a:ext cx="51255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一次只做一件事；任何一步失败，都不进入下一步。</a:t>
            </a:r>
          </a:p>
        </p:txBody>
      </p:sp>
      <p:sp>
        <p:nvSpPr>
          <p:cNvPr id="8" name="Line 8"/>
          <p:cNvSpPr/>
          <p:nvPr/>
        </p:nvSpPr>
        <p:spPr>
          <a:xfrm>
            <a:off x="1219200" y="2819400"/>
            <a:ext cx="9525" cy="2514600"/>
          </a:xfrm>
          <a:custGeom>
            <a:avLst/>
            <a:gdLst/>
            <a:ahLst/>
            <a:cxnLst/>
            <a:rect l="l" t="t" r="r" b="b"/>
            <a:pathLst>
              <a:path w="9525" h="2514600">
                <a:moveTo>
                  <a:pt x="0" y="0"/>
                </a:moveTo>
                <a:lnTo>
                  <a:pt x="0" y="251460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9" name="Ellipse 9"/>
          <p:cNvSpPr/>
          <p:nvPr/>
        </p:nvSpPr>
        <p:spPr>
          <a:xfrm>
            <a:off x="1133475" y="2733675"/>
            <a:ext cx="171450" cy="1714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478661" y="2603500"/>
            <a:ext cx="58795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进页面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0185" y="2889250"/>
            <a:ext cx="19805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GET /knowledge-points/:id</a:t>
            </a:r>
          </a:p>
        </p:txBody>
      </p:sp>
      <p:sp>
        <p:nvSpPr>
          <p:cNvPr id="12" name="Ellipse 12"/>
          <p:cNvSpPr/>
          <p:nvPr/>
        </p:nvSpPr>
        <p:spPr>
          <a:xfrm>
            <a:off x="1133475" y="3362325"/>
            <a:ext cx="171450" cy="1714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478661" y="3232150"/>
            <a:ext cx="11614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选难度并出题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0185" y="3517900"/>
            <a:ext cx="384735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POST /ai/generate-question（显示「正在出题中…」）</a:t>
            </a:r>
          </a:p>
        </p:txBody>
      </p:sp>
      <p:sp>
        <p:nvSpPr>
          <p:cNvPr id="15" name="Ellipse 15"/>
          <p:cNvSpPr/>
          <p:nvPr/>
        </p:nvSpPr>
        <p:spPr>
          <a:xfrm>
            <a:off x="1133475" y="3990975"/>
            <a:ext cx="171450" cy="1714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478661" y="3860800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作答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0185" y="4146550"/>
            <a:ext cx="209211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radio 列表；提交前校验已选项</a:t>
            </a:r>
          </a:p>
        </p:txBody>
      </p:sp>
      <p:sp>
        <p:nvSpPr>
          <p:cNvPr id="18" name="Ellipse 18"/>
          <p:cNvSpPr/>
          <p:nvPr/>
        </p:nvSpPr>
        <p:spPr>
          <a:xfrm>
            <a:off x="1133475" y="4619625"/>
            <a:ext cx="171450" cy="1714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478661" y="4489450"/>
            <a:ext cx="58795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出结果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185" y="4775200"/>
            <a:ext cx="28761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显示对错、正确答案、解析、「再来一题」</a:t>
            </a:r>
          </a:p>
        </p:txBody>
      </p:sp>
      <p:sp>
        <p:nvSpPr>
          <p:cNvPr id="21" name="Ellipse 21"/>
          <p:cNvSpPr/>
          <p:nvPr/>
        </p:nvSpPr>
        <p:spPr>
          <a:xfrm>
            <a:off x="1133475" y="5248275"/>
            <a:ext cx="171450" cy="171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478661" y="5118100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错题回流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80185" y="5403850"/>
            <a:ext cx="34492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PUT /knowledge-points/:id → reviewList = true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667500" y="2362200"/>
            <a:ext cx="4457700" cy="3619500"/>
          </a:xfrm>
          <a:prstGeom prst="roundRect">
            <a:avLst>
              <a:gd name="adj" fmla="val 2632"/>
            </a:avLst>
          </a:prstGeom>
          <a:solidFill>
            <a:srgbClr val="0F1B2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890766" y="2578100"/>
            <a:ext cx="22202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pages/QuizPage.jsx · 串行调用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90385" y="2927350"/>
            <a:ext cx="14136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Microsoft YaHei"/>
                <a:cs typeface="Consolas"/>
              </a:rPr>
              <a:t>// 1. 拉知识点正文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90385" y="3175000"/>
            <a:ext cx="4406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B8E8"/>
                </a:solidFill>
                <a:latin typeface="Consolas"/>
                <a:ea typeface="Consolas"/>
                <a:cs typeface="Consolas"/>
              </a:rPr>
              <a:t>const res = await api.get(`/knowledge-points/${id}`);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90385" y="3422650"/>
            <a:ext cx="23443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setKnowledgePoint(res.data);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90385" y="3765550"/>
            <a:ext cx="20973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Microsoft YaHei"/>
                <a:cs typeface="Consolas"/>
              </a:rPr>
              <a:t>// 2. 出题：先置 isLoading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90385" y="4013200"/>
            <a:ext cx="1598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setIsLoading(true);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0385" y="4260850"/>
            <a:ext cx="42406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B8E8"/>
                </a:solidFill>
                <a:latin typeface="Consolas"/>
                <a:ea typeface="Consolas"/>
                <a:cs typeface="Consolas"/>
              </a:rPr>
              <a:t>const q = await api.post("/ai/generate-question", {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80885" y="4508500"/>
            <a:ext cx="43344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B8E8"/>
                </a:solidFill>
                <a:latin typeface="Consolas"/>
                <a:ea typeface="Consolas"/>
                <a:cs typeface="Consolas"/>
              </a:rPr>
              <a:t>knowledgePointContent: res.data.content, difficulty,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90385" y="4756150"/>
            <a:ext cx="2602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FB8E8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90385" y="5003800"/>
            <a:ext cx="34288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setQuestion(q.data); setIsLoading(false);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90385" y="5346700"/>
            <a:ext cx="3326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Microsoft YaHei"/>
                <a:cs typeface="Consolas"/>
              </a:rPr>
              <a:t>// 3. 作答后比较 selectedOption 与 answer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10 /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762000"/>
            <a:ext cx="13752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3 · 前端考场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084" y="1098550"/>
            <a:ext cx="620649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判对错只要一行，值钱的是后面那一句</a:t>
            </a:r>
          </a:p>
        </p:txBody>
      </p:sp>
      <p:sp>
        <p:nvSpPr>
          <p:cNvPr id="6" name="Line 6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8418" y="1854200"/>
            <a:ext cx="60140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前端比较答案够用；错题必须回流到复习列表，闭环才闭合。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1066800" y="2438400"/>
            <a:ext cx="4762500" cy="1143000"/>
          </a:xfrm>
          <a:prstGeom prst="roundRect">
            <a:avLst>
              <a:gd name="adj" fmla="val 8333"/>
            </a:avLst>
          </a:prstGeom>
          <a:solidFill>
            <a:srgbClr val="0F1B2D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90066" y="2635250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唯一的一次判断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9304" y="2984500"/>
            <a:ext cx="47338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const isCorrect = selectedOption === question.answer;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9304" y="3251200"/>
            <a:ext cx="53557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FB8E8"/>
                </a:solidFill>
                <a:latin typeface="Consolas"/>
                <a:ea typeface="Consolas"/>
                <a:cs typeface="Consolas"/>
              </a:rPr>
              <a:t>setResult({ isCorrect, explanation: question.explanation });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066800" y="3848100"/>
            <a:ext cx="2286000" cy="114300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288161" y="4013200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答对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9685" y="4356100"/>
            <a:ext cx="1820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显示「回答正确」与解析，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9685" y="4584700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提供「再来一题」。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581400" y="3848100"/>
            <a:ext cx="2286000" cy="114300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802761" y="4013200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B06A1F"/>
                </a:solidFill>
                <a:latin typeface="+mn-lt"/>
                <a:ea typeface="+mn-ea"/>
                <a:cs typeface="+mn-cs"/>
              </a:rPr>
              <a:t>答错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04285" y="4356100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显示正确答案与解析，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04285" y="4584700"/>
            <a:ext cx="12176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并写入复习列表。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667500" y="2438400"/>
            <a:ext cx="4457700" cy="2552700"/>
          </a:xfrm>
          <a:prstGeom prst="roundRect">
            <a:avLst>
              <a:gd name="adj" fmla="val 3731"/>
            </a:avLst>
          </a:prstGeom>
          <a:solidFill>
            <a:srgbClr val="0F1B2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890766" y="2654300"/>
            <a:ext cx="16574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错题回流 · 只有一句写库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90385" y="3003550"/>
            <a:ext cx="14284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if (!isCorrect) {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80885" y="3270250"/>
            <a:ext cx="52428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B8E8"/>
                </a:solidFill>
                <a:latin typeface="Consolas"/>
                <a:ea typeface="Consolas"/>
                <a:cs typeface="Consolas"/>
              </a:rPr>
              <a:t>await api.put(`/knowledge-points/${id}`, { reviewList: true });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80885" y="3536950"/>
            <a:ext cx="31381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Microsoft YaHei"/>
                <a:cs typeface="Consolas"/>
              </a:rPr>
              <a:t>setNotice("该知识点已加入你的复习列表");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90385" y="3803650"/>
            <a:ext cx="943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90766" y="4178300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为什么写「复习列表」而不是「错题本」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90766" y="4445000"/>
            <a:ext cx="2851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——复述评分差也会进来，复习计划只有一处。</a:t>
            </a:r>
          </a:p>
        </p:txBody>
      </p:sp>
      <p:sp>
        <p:nvSpPr>
          <p:cNvPr id="28" name="Line 28"/>
          <p:cNvSpPr/>
          <p:nvPr/>
        </p:nvSpPr>
        <p:spPr>
          <a:xfrm>
            <a:off x="1066800" y="548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3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60323" y="5619750"/>
            <a:ext cx="2597658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B06A1F"/>
                </a:solidFill>
                <a:latin typeface="+mn-lt"/>
                <a:ea typeface="+mn-ea"/>
                <a:cs typeface="+mn-cs"/>
              </a:rPr>
              <a:t>局限：字符串比较只能判选择题。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22523" y="5619750"/>
            <a:ext cx="4257396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简答题答案不唯一——这就是下一节要请 AI 阅卷的原因。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11 /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762000"/>
            <a:ext cx="13752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3 · 前端考场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084" y="1098550"/>
            <a:ext cx="2935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把考场挂到平台上</a:t>
            </a:r>
          </a:p>
        </p:txBody>
      </p:sp>
      <p:sp>
        <p:nvSpPr>
          <p:cNvPr id="6" name="Line 6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8418" y="1854200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一个链接、一条路由，答题页就有了入口。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1066800" y="2743200"/>
            <a:ext cx="2857500" cy="1257300"/>
          </a:xfrm>
          <a:prstGeom prst="roundRect">
            <a:avLst>
              <a:gd name="adj" fmla="val 7576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88542" y="2940050"/>
            <a:ext cx="9028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① 入口按钮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0066" y="3282950"/>
            <a:ext cx="13416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DashboardPage.jsx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9685" y="3536950"/>
            <a:ext cx="1820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卡片操作区加「开始测评」</a:t>
            </a:r>
          </a:p>
        </p:txBody>
      </p:sp>
      <p:sp>
        <p:nvSpPr>
          <p:cNvPr id="12" name="Line 12"/>
          <p:cNvSpPr/>
          <p:nvPr/>
        </p:nvSpPr>
        <p:spPr>
          <a:xfrm>
            <a:off x="3924300" y="3371850"/>
            <a:ext cx="838200" cy="9525"/>
          </a:xfrm>
          <a:custGeom>
            <a:avLst/>
            <a:gdLst/>
            <a:ahLst/>
            <a:cxnLst/>
            <a:rect l="l" t="t" r="r" b="b"/>
            <a:pathLst>
              <a:path w="838200" h="952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148811" y="3136900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762500" y="2743200"/>
            <a:ext cx="2857500" cy="1257300"/>
          </a:xfrm>
          <a:prstGeom prst="roundRect">
            <a:avLst>
              <a:gd name="adj" fmla="val 7576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984242" y="2940050"/>
            <a:ext cx="5393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② 路由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85766" y="3282950"/>
            <a:ext cx="5600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App.jsx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85385" y="3536950"/>
            <a:ext cx="168336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4A5568"/>
                </a:solidFill>
                <a:latin typeface="Consolas"/>
                <a:ea typeface="Consolas"/>
                <a:cs typeface="Consolas"/>
              </a:rPr>
              <a:t>/quiz/:id → QuizPage</a:t>
            </a:r>
          </a:p>
        </p:txBody>
      </p:sp>
      <p:sp>
        <p:nvSpPr>
          <p:cNvPr id="18" name="Line 18"/>
          <p:cNvSpPr/>
          <p:nvPr/>
        </p:nvSpPr>
        <p:spPr>
          <a:xfrm>
            <a:off x="7620000" y="3371850"/>
            <a:ext cx="838200" cy="9525"/>
          </a:xfrm>
          <a:custGeom>
            <a:avLst/>
            <a:gdLst/>
            <a:ahLst/>
            <a:cxnLst/>
            <a:rect l="l" t="t" r="r" b="b"/>
            <a:pathLst>
              <a:path w="838200" h="952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882611" y="3136900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渲染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458200" y="2743200"/>
            <a:ext cx="2667000" cy="1257300"/>
          </a:xfrm>
          <a:prstGeom prst="roundRect">
            <a:avLst>
              <a:gd name="adj" fmla="val 7576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679942" y="2940050"/>
            <a:ext cx="7211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③ 答题页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81466" y="3282950"/>
            <a:ext cx="9531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QuizPage.jsx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81085" y="3536950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用 :id 拉正文并出题</a:t>
            </a:r>
          </a:p>
        </p:txBody>
      </p:sp>
      <p:sp>
        <p:nvSpPr>
          <p:cNvPr id="24" name="Line 24"/>
          <p:cNvSpPr/>
          <p:nvPr/>
        </p:nvSpPr>
        <p:spPr>
          <a:xfrm>
            <a:off x="1066800" y="447675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060323" y="4686300"/>
            <a:ext cx="6948576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链路提示：入口按钮传的是知识点 _id，页面拿到 id 就知道该给谁出题——不需要额外参数。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0323" y="5010150"/>
            <a:ext cx="6388557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注意：入口放卡片操作区，别挤占「开始复述」的位置；两条学习路径要并列可见。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066800" y="5524500"/>
            <a:ext cx="10058400" cy="53340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289304" y="5695950"/>
            <a:ext cx="41090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改完立刻点一次：URL 里出现 /quiz/&lt;24 位 id&gt; 就算通。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12 /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762000"/>
            <a:ext cx="17330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4 · AI 阅卷与交付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084" y="1098550"/>
            <a:ext cx="475259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开放答案，只能交给阅卷老师</a:t>
            </a:r>
          </a:p>
        </p:txBody>
      </p:sp>
      <p:sp>
        <p:nvSpPr>
          <p:cNvPr id="6" name="Line 6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8418" y="1854200"/>
            <a:ext cx="579196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简答题没有唯一字符串，只能让模型按「答案要点」判分。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1066800" y="2400300"/>
            <a:ext cx="4572000" cy="142875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88542" y="2578100"/>
            <a:ext cx="15053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选择题 · 前端比较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0066" y="2940050"/>
            <a:ext cx="26592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4A5568"/>
                </a:solidFill>
                <a:latin typeface="Consolas"/>
                <a:ea typeface="Consolas"/>
                <a:cs typeface="Consolas"/>
              </a:rPr>
              <a:t>selectedOption === question.answer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9685" y="3213100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确定性判断，零成本、零延迟。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9685" y="3460750"/>
            <a:ext cx="25745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适用：单选、多选、填空（固定词）。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0" y="2400300"/>
            <a:ext cx="5029200" cy="142875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317742" y="2578100"/>
            <a:ext cx="15053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简答题 · 模型判断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18885" y="2927350"/>
            <a:ext cx="31173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输入：题目 + answer_key_points + 学生回答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18885" y="3194050"/>
            <a:ext cx="23991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输出：{ isCorrect, explanation 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18885" y="3460750"/>
            <a:ext cx="30269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判定原则：覆盖要点即算对，允许措辞不同。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066800" y="4114800"/>
            <a:ext cx="10058400" cy="1790700"/>
          </a:xfrm>
          <a:prstGeom prst="roundRect">
            <a:avLst>
              <a:gd name="adj" fmla="val 5319"/>
            </a:avLst>
          </a:prstGeom>
          <a:solidFill>
            <a:srgbClr val="0F1B2D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90066" y="4311650"/>
            <a:ext cx="13608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评分 Prompt · 骨架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9685" y="4603750"/>
            <a:ext cx="243135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Microsoft YaHei"/>
                <a:cs typeface="Consolas"/>
              </a:rPr>
              <a:t>你是阅卷老师。题目：${question}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9685" y="4851400"/>
            <a:ext cx="4439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FB8E8"/>
                </a:solidFill>
                <a:latin typeface="Consolas"/>
                <a:ea typeface="Microsoft YaHei"/>
                <a:cs typeface="Consolas"/>
              </a:rPr>
              <a:t>答案要点：${answerKeyPoints} 学生回答：${studentAnswer}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9685" y="5099050"/>
            <a:ext cx="27111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D8E2F0"/>
                </a:solidFill>
                <a:latin typeface="Consolas"/>
                <a:ea typeface="Microsoft YaHei"/>
                <a:cs typeface="Consolas"/>
              </a:rPr>
              <a:t>覆盖主要要点即判正确；只输出 JSON：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18285" y="5346700"/>
            <a:ext cx="47171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8FB8E8"/>
                </a:solidFill>
                <a:latin typeface="Consolas"/>
                <a:ea typeface="Microsoft YaHei"/>
                <a:cs typeface="Consolas"/>
              </a:rPr>
              <a:t>{ "isCorrect": true, "explanation": "缺了点 X，但主线对" }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90066" y="5645150"/>
            <a:ext cx="35444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A7D9"/>
                </a:solidFill>
                <a:latin typeface="Consolas"/>
                <a:ea typeface="Microsoft YaHei"/>
                <a:cs typeface="Consolas"/>
              </a:rPr>
              <a:t>要点写得越具体，判分越稳定；不要只写「理解概念」。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13 /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0704" y="762000"/>
            <a:ext cx="17330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4 · AI 阅卷与交付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084" y="1098550"/>
            <a:ext cx="511606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挑战任务：拆成四个可勾选的点</a:t>
            </a:r>
          </a:p>
        </p:txBody>
      </p:sp>
      <p:sp>
        <p:nvSpPr>
          <p:cNvPr id="6" name="Line 6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8418" y="1854200"/>
            <a:ext cx="6114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支持简答题 = 出题加类型 + 新增评分接口 + 前端按类型分流。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9942" y="2368550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后端</a:t>
            </a:r>
          </a:p>
        </p:txBody>
      </p:sp>
      <p:sp>
        <p:nvSpPr>
          <p:cNvPr id="9" name="Line 9"/>
          <p:cNvSpPr/>
          <p:nvPr/>
        </p:nvSpPr>
        <p:spPr>
          <a:xfrm>
            <a:off x="1066800" y="2667000"/>
            <a:ext cx="5029200" cy="9525"/>
          </a:xfrm>
          <a:custGeom>
            <a:avLst/>
            <a:gdLst/>
            <a:ahLst/>
            <a:cxnLst/>
            <a:rect l="l" t="t" r="r" b="b"/>
            <a:pathLst>
              <a:path w="5029200" h="9525">
                <a:moveTo>
                  <a:pt x="0" y="0"/>
                </a:moveTo>
                <a:lnTo>
                  <a:pt x="50292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1066800" y="2857500"/>
            <a:ext cx="171450" cy="17145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403223" y="2847975"/>
            <a:ext cx="2749641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generateQuestion 增加 type 参数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4366" y="3130550"/>
            <a:ext cx="25321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single / short，切换两套 Prompt 模板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66800" y="3562350"/>
            <a:ext cx="171450" cy="17145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403223" y="3552825"/>
            <a:ext cx="1888630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 gradeAnswer 接口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4366" y="3835400"/>
            <a:ext cx="35153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入参：question、answerKeyPoints、studentAnswer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17742" y="2368550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前端</a:t>
            </a:r>
          </a:p>
        </p:txBody>
      </p:sp>
      <p:sp>
        <p:nvSpPr>
          <p:cNvPr id="17" name="Line 17"/>
          <p:cNvSpPr/>
          <p:nvPr/>
        </p:nvSpPr>
        <p:spPr>
          <a:xfrm>
            <a:off x="6324600" y="2667000"/>
            <a:ext cx="4800600" cy="9525"/>
          </a:xfrm>
          <a:custGeom>
            <a:avLst/>
            <a:gdLst/>
            <a:ahLst/>
            <a:cxnLst/>
            <a:rect l="l" t="t" r="r" b="b"/>
            <a:pathLst>
              <a:path w="4800600" h="9525">
                <a:moveTo>
                  <a:pt x="0" y="0"/>
                </a:moveTo>
                <a:lnTo>
                  <a:pt x="4800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324600" y="2857500"/>
            <a:ext cx="171450" cy="17145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661023" y="2847975"/>
            <a:ext cx="216687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按 question.type 渲染输入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62166" y="3130550"/>
            <a:ext cx="22369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single → radio；short → textarea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324600" y="3562350"/>
            <a:ext cx="171450" cy="17145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661023" y="3552825"/>
            <a:ext cx="1391463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提交时按类型分流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2166" y="3835400"/>
            <a:ext cx="2844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简答题走 /ai/grade-answer，不再前端比较</a:t>
            </a:r>
          </a:p>
        </p:txBody>
      </p:sp>
      <p:sp>
        <p:nvSpPr>
          <p:cNvPr id="24" name="Line 24"/>
          <p:cNvSpPr/>
          <p:nvPr/>
        </p:nvSpPr>
        <p:spPr>
          <a:xfrm>
            <a:off x="1066800" y="447675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060323" y="4667250"/>
            <a:ext cx="8316333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顺序建议：先做后端 ①②，用 Postman 各跑一次；再改前端——否则前端调不通时，你分不清是哪一层的问题。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066800" y="5143500"/>
            <a:ext cx="10058400" cy="571500"/>
          </a:xfrm>
          <a:prstGeom prst="roundRect">
            <a:avLst>
              <a:gd name="adj" fmla="val 13333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289304" y="5334000"/>
            <a:ext cx="5020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06A1F"/>
                </a:solidFill>
                <a:latin typeface="+mn-lt"/>
                <a:ea typeface="+mn-ea"/>
                <a:cs typeface="+mn-cs"/>
              </a:rPr>
              <a:t>验收：同一知识点，单选题与简答题各跑一遍，错题都进入复习列表。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096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8347815" y="1009650"/>
            <a:ext cx="2720235" cy="3305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7250" b="1" dirty="0">
                <a:solidFill>
                  <a:schemeClr val="accent1">
                    <a:alphaMod val="5000"/>
                  </a:schemeClr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9004" y="77470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14 / 14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0704" y="762000"/>
            <a:ext cx="17330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PART 4 · AI 阅卷与交付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3084" y="1098550"/>
            <a:ext cx="2571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今天带走三句话</a:t>
            </a:r>
          </a:p>
        </p:txBody>
      </p:sp>
      <p:sp>
        <p:nvSpPr>
          <p:cNvPr id="7" name="Line 7"/>
          <p:cNvSpPr/>
          <p:nvPr/>
        </p:nvSpPr>
        <p:spPr>
          <a:xfrm>
            <a:off x="1066800" y="16764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9180" y="2012950"/>
            <a:ext cx="40206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一、Prompt 要写死角色、输入、输出格式。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9180" y="241300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二、答题页是状态驱动的串行流程。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9180" y="2813050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三、错题回流复习列表，闭环才闭合。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066800" y="3467100"/>
            <a:ext cx="4876800" cy="142875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>
            <a:solidFill>
              <a:schemeClr val="accent6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288923" y="3657600"/>
            <a:ext cx="357581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必做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9685" y="3975100"/>
            <a:ext cx="18659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单选题「难度 → 出题 → 答题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9685" y="4222750"/>
            <a:ext cx="19714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→ 评分 → 复习」全流程跑通。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0066" y="4559300"/>
            <a:ext cx="22934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交付：截图 + 一条错题的复习状态。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48400" y="3467100"/>
            <a:ext cx="4876800" cy="142875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>
            <a:solidFill>
              <a:schemeClr val="accent3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470523" y="3657600"/>
            <a:ext cx="357581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B06A1F"/>
                </a:solidFill>
                <a:latin typeface="+mn-lt"/>
                <a:ea typeface="+mn-ea"/>
                <a:cs typeface="+mn-cs"/>
              </a:rPr>
              <a:t>挑战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71285" y="3975100"/>
            <a:ext cx="219765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完成简答题支持：出题加 type、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71285" y="4222750"/>
            <a:ext cx="22102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5568"/>
                </a:solidFill>
                <a:latin typeface="+mn-lt"/>
                <a:ea typeface="+mn-ea"/>
                <a:cs typeface="+mn-cs"/>
              </a:rPr>
              <a:t>新增 gradeAnswer、前端分流。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71666" y="4559300"/>
            <a:ext cx="25108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提示：先让 Postman 跑通，再动前端。</a:t>
            </a:r>
          </a:p>
        </p:txBody>
      </p:sp>
      <p:sp>
        <p:nvSpPr>
          <p:cNvPr id="21" name="Line 21"/>
          <p:cNvSpPr/>
          <p:nvPr/>
        </p:nvSpPr>
        <p:spPr>
          <a:xfrm>
            <a:off x="1066800" y="52959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059561" y="5499100"/>
            <a:ext cx="473469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下节课：RAG 检索增强生成——让 AI 与你的知识库对话。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0704" y="5867400"/>
            <a:ext cx="1966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学-练-评闭环，今天闭合。</a:t>
            </a:r>
          </a:p>
        </p:txBody>
      </p:sp>
      <p:sp>
        <p:nvSpPr>
          <p:cNvPr id="24" name="Line 24"/>
          <p:cNvSpPr/>
          <p:nvPr/>
        </p:nvSpPr>
        <p:spPr>
          <a:xfrm>
            <a:off x="1066800" y="6324600"/>
            <a:ext cx="10058400" cy="9525"/>
          </a:xfrm>
          <a:custGeom>
            <a:avLst/>
            <a:gdLst/>
            <a:ahLst/>
            <a:cxnLst/>
            <a:rect l="l" t="t" r="r" b="b"/>
            <a:pathLst>
              <a:path w="10058400" h="9525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urse09-ai-quiz">
  <a:themeElements>
    <a:clrScheme name="course09-ai-quiz">
      <a:dk1>
        <a:srgbClr val="1F2933"/>
      </a:dk1>
      <a:lt1>
        <a:srgbClr val="F5F7FA"/>
      </a:lt1>
      <a:dk2>
        <a:srgbClr val="1F497D"/>
      </a:dk2>
      <a:lt2>
        <a:srgbClr val="FFFFFF"/>
      </a:lt2>
      <a:accent1>
        <a:srgbClr val="16233A"/>
      </a:accent1>
      <a:accent2>
        <a:srgbClr val="2F80ED"/>
      </a:accent2>
      <a:accent3>
        <a:srgbClr val="F2994A"/>
      </a:accent3>
      <a:accent4>
        <a:srgbClr val="16233A"/>
      </a:accent4>
      <a:accent5>
        <a:srgbClr val="6B7A90"/>
      </a:accent5>
      <a:accent6>
        <a:srgbClr val="D9E1EC"/>
      </a:accent6>
      <a:hlink>
        <a:srgbClr val="2F80ED"/>
      </a:hlink>
      <a:folHlink>
        <a:srgbClr val="F2994A"/>
      </a:folHlink>
    </a:clrScheme>
    <a:fontScheme name="course09-ai-quiz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rse09-ai-quiz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urse09-ai-quiz">
  <a:themeElements>
    <a:clrScheme name="course09-ai-quiz">
      <a:dk1>
        <a:srgbClr val="1F2933"/>
      </a:dk1>
      <a:lt1>
        <a:srgbClr val="F5F7FA"/>
      </a:lt1>
      <a:dk2>
        <a:srgbClr val="1F497D"/>
      </a:dk2>
      <a:lt2>
        <a:srgbClr val="FFFFFF"/>
      </a:lt2>
      <a:accent1>
        <a:srgbClr val="16233A"/>
      </a:accent1>
      <a:accent2>
        <a:srgbClr val="2F80ED"/>
      </a:accent2>
      <a:accent3>
        <a:srgbClr val="F2994A"/>
      </a:accent3>
      <a:accent4>
        <a:srgbClr val="16233A"/>
      </a:accent4>
      <a:accent5>
        <a:srgbClr val="6B7A90"/>
      </a:accent5>
      <a:accent6>
        <a:srgbClr val="D9E1EC"/>
      </a:accent6>
      <a:hlink>
        <a:srgbClr val="2F80ED"/>
      </a:hlink>
      <a:folHlink>
        <a:srgbClr val="F2994A"/>
      </a:folHlink>
    </a:clrScheme>
    <a:fontScheme name="course09-ai-quiz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rse09-ai-quiz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2026-10-23T02:27:02Z</dcterms:created>
  <dcterms:modified xsi:type="dcterms:W3CDTF">2026-10-23T02:27:02Z</dcterms:modified>
  <cp:category/>
  <cp:contentStatus/>
</cp:coreProperties>
</file>