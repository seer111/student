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8FAADC"/>
                </a:solidFill>
                <a:latin typeface="微软雅黑"/>
                <a:ea typeface="微软雅黑"/>
              </a:rPr>
              <a:t>《大前端与AI实战》系列课程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第二次课程：API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D9B33"/>
                </a:solidFill>
                <a:latin typeface="微软雅黑"/>
                <a:ea typeface="微软雅黑"/>
              </a:rPr>
              <a:t>从“暂存”到“永存”——用户系统的 API 设计与数据库集成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AADC"/>
                </a:solidFill>
                <a:latin typeface="微软雅黑"/>
                <a:ea typeface="微软雅黑"/>
              </a:rPr>
              <a:t>费曼学习平台 · 总时长 4 学时 · 后端核心功能开发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本次课程概览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▪ 课程定位：承接 01 课 “Hello World” 服务器，进入后端核心功能开发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▪ 总时长：4 学时（约 3~3.5 小时教学 + 答疑休息）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▪ 核心任务：设计并实现第一个关键业务——用户注册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▪ 本节课后你将拥有：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一个运行在云端的免费 MongoDB 数据库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一个符合 RESTful 风格的注册 API（工业级安全标准）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一套 Postman / curl 的 API 测试技能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课程总览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第一部分  理论先行：什么是好的 API？（约 30 分钟）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第二部分  数据仓库：拥抱 MongoDB（约 60 分钟）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第三部分  连接世界：Mongoose 实战（约 75 分钟）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第四部分  测试我们的 API：Postman 与 curl（约 20 分钟）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第五部分  课堂总结与作业（15 分钟）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▪ 选学内容  进阶技巧与最佳实践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本次课程目标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▪ 理解 RESTful API 的设计理念和常用 HTTP 动词（GET、POST）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▪ 了解 NoSQL 数据库 MongoDB，成功创建免费云数据库（MongoDB Atlas）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▪ 使用 Mongoose 在 Node.js 项目中连接 MongoDB 数据库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▪ 设计用户数据模型（Schema），实现完整、安全的用户注册 API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▪ 掌握 Postman 的基本使用，以测试后端 API 接口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核心关键词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3108960" cy="10058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RESTful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554480"/>
            <a:ext cx="3108960" cy="10058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HTTP 动词 (GET / POST)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554480"/>
            <a:ext cx="3108960" cy="10058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数据库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3108960" cy="10058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MongoDB / Atlas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3108960"/>
            <a:ext cx="3108960" cy="10058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33756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Mongoose (ODM)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108960"/>
            <a:ext cx="3108960" cy="10058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33756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Schema 数据模型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663440"/>
            <a:ext cx="3108960" cy="10058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密码哈希 Hashing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4663440"/>
            <a:ext cx="3108960" cy="10058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8920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bcryptjs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663440"/>
            <a:ext cx="3108960" cy="10058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8920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Postman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>
                <a:solidFill>
                  <a:srgbClr val="8FAAD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理论先行：什么是好的 API？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D9B33"/>
                </a:solidFill>
                <a:latin typeface="微软雅黑"/>
                <a:ea typeface="微软雅黑"/>
              </a:rPr>
              <a:t>RESTful 设计理念 · HTTP 动词 · 约 30 分钟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回顾上次课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上次课我们做了什么？</a:t>
            </a:r>
          </a:p>
          <a:p>
            <a:pPr lvl="1">
              <a:spcAft>
                <a:spcPts val="12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成功搭建了开发环境，并用 Express 创建了能说 “Hello” 的服务器</a:t>
            </a:r>
          </a:p>
          <a:p>
            <a:pPr lvl="1">
              <a:spcAft>
                <a:spcPts val="12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练习了添加新路由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今天的目标：</a:t>
            </a:r>
          </a:p>
          <a:p>
            <a:pPr lvl="1">
              <a:spcAft>
                <a:spcPts val="12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让服务器变得更强大——能真正地处理和存储数据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API 如同餐厅菜单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API（应用程序接口）是前后端之间的“合同”或“菜单”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前端 = 顾客：通过菜单点菜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后端 = 厨房：根据菜单准备并上菜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RESTful 是一种流行的 API 设计风格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让这份“菜单”变得清晰、规范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RESTful 两大核心原则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资源（Resource）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把数据看作资源：如“用户”“知识点”都是资源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URL 应该表示资源：/users、/knowledge-points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动词（Verb）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使用 HTTP 动词表示对资源的操作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GET 查 · POST 增 · PUT/PATCH 改 · DELETE 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HTTP 动词对照表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630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6492240"/>
              </a:tblGrid>
              <a:tr h="8046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动词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操作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餐厅类比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查（获取资源）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“服务员，给我看看所有用户列表”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POST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增（创建资源）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“服务员，帮我新注册一个用户”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PUT / 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改（更新资源）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“服务员，帮我修改这个用户的信息”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DELETE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删（删除资源）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“服务员，帮我注销这个用户”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用户注册 API 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“用户注册”本质上是创建一个新的用户资源</a:t>
            </a:r>
          </a:p>
          <a:p>
            <a:pPr lvl="1">
              <a:spcAft>
                <a:spcPts val="12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因此应该设计为：POST /api/users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好习惯：加 /api 前缀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用于区分 API 路由与其他路由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F3864"/>
                </a:solidFill>
                <a:latin typeface="微软雅黑"/>
                <a:ea typeface="微软雅黑"/>
              </a:rPr>
              <a:t>POST /api/users   →   创建用户资源
方法 + 资源路径  =  一个清晰的 API 契约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>
                <a:solidFill>
                  <a:srgbClr val="8FAAD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数据仓库：拥抱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D9B33"/>
                </a:solidFill>
                <a:latin typeface="微软雅黑"/>
                <a:ea typeface="微软雅黑"/>
              </a:rPr>
              <a:t>NoSQL 数据库 · 云数据库 Atlas · 约 60 分钟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为什么是 MongoDB？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▪ 现状：用户数据还不能永久保存，服务器一重启就没了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MongoDB 的特点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NoSQL 数据库，存储类似 JSON 的 BSON 文档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不需要预先定义严格的表格结构，非常灵活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开发速度快，非常适合快速迭代的项目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云服务：使用 MongoDB Atlas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无需本地安装，更接近真实企业开发环境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创建免费云数据库（MongoDB Atlas）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9903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26464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访问 mongodb.com/cloud/atlas，注册账号并登录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12848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79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67712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创建一个新的项目（Project）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54096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81527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08960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Build a Database，选择免费的 M0 Free Tier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95344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22776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50207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选择云服务商和区域（默认即可），创建集群（等待几分钟）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36592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64024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791455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安全连接配置（下一页详解）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577840"/>
            <a:ext cx="50292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0527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632704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获取连接字符串（Connect → Drivers）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关键步骤：安全连接配置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创建数据库用户（Database Access）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务必记下用户名和密码，例如 user: feynman-user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配置网络访问（Network Access）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添加 IP 地址到白名单，数据库只接受白名单内的连接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教学环境可选 ALLOW ACCESS FROM ANYWHERE（0.0.0.0/0）</a:t>
            </a:r>
          </a:p>
          <a:p>
            <a:pPr lvl="1">
              <a:spcAft>
                <a:spcPts val="1200"/>
              </a:spcAft>
            </a:pPr>
            <a:r>
              <a:rPr sz="1600" b="1">
                <a:solidFill>
                  <a:srgbClr val="B03020"/>
                </a:solidFill>
                <a:latin typeface="微软雅黑"/>
                <a:ea typeface="微软雅黑"/>
              </a:rPr>
              <a:t>– 真实项目：只允许特定 IP 访问！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获取连接字符串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3864"/>
                </a:solidFill>
                <a:latin typeface="Consolas"/>
                <a:ea typeface="Consolas"/>
              </a:rPr>
              <a:t>mongodb+srv://feynman-user:&lt;password&gt;@cluster0.xxxxx.mongodb.net/?retryWrites=true&amp;w=majority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▪ 将 &lt;password&gt; 替换为真实密码，cluster 部分替换为自己的地址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▪ 末尾追加数据库名 feynman-db，Mongoose 会自动创建该库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>
                <a:solidFill>
                  <a:srgbClr val="8FAAD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连接世界：Mongoose 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D9B33"/>
                </a:solidFill>
                <a:latin typeface="微软雅黑"/>
                <a:ea typeface="微软雅黑"/>
              </a:rPr>
              <a:t>Mongoose 连接 · .env 配置 · 注册功能实现 · 约 75 分钟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安装 Mongoose 和 dotenv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onsolas"/>
                <a:ea typeface="Consolas"/>
              </a:rPr>
              <a:t>npm install mongoose dotenv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▪ mongoose：连接 MongoDB 的“桥梁”，帮助我们更好地组织数据（ODM）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▪ dotenv：读取 .env 配置文件的工具，安全管理敏感信息（如数据库密码）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.env 环境变量与 .gitignore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583680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62179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3864"/>
                </a:solidFill>
                <a:latin typeface="Consolas"/>
                <a:ea typeface="Consolas"/>
              </a:rPr>
              <a:t># .env 文件
MONGO_URI=mongodb+srv://feynman-user:
YOUR_PASSWORD@cluster0.xxxxx.mongodb
.net/feynman-db?retryWrites=true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325880"/>
            <a:ext cx="4114800" cy="265176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463040"/>
            <a:ext cx="3657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3864"/>
                </a:solidFill>
                <a:latin typeface="Consolas"/>
                <a:ea typeface="Consolas"/>
              </a:rPr>
              <a:t># .gitignore
.env
node_modules/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B03020"/>
                </a:solidFill>
                <a:latin typeface="微软雅黑"/>
                <a:ea typeface="微软雅黑"/>
              </a:rPr>
              <a:t>▪ .gitignore 告诉 Git 哪些文件不要上传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– 包含密码的 .env 和庞大的 node_modules 绝不能提交！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在 index.js 中建立连接与中间件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908792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99032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const express = require('express');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const mongoose = require('mongoose');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const cors = require('cors');        // 1. 引入 cors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require('dotenv').config();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const app = express();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const port = process.env.PORT || 3000;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// --- 核心中间件 ---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app.use(cors());                     // 2. 解决跨域问题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app.use(express.json());             // 3. 解析 JSON 请求体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// --- 数据库连接 ---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mongoose.connect(process.env.MONGO_URI)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 .then(() =&gt; console.log('MongoDB connected successfully!'))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 .catch(err =&gt; console.error('MongoDB connection error:', err));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app.listen(port, () =&gt; console.log('Feynman Platform backend is running...'));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41848"/>
            <a:ext cx="1090879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5A00"/>
                </a:solidFill>
                <a:latin typeface="微软雅黑"/>
                <a:ea typeface="微软雅黑"/>
              </a:rPr>
              <a:t>CORS：前端(5173)请求后端(3000)时，浏览器默认会阻止跨域请求；cors() 添加响应头放行。express.json() 让应用能解析 POST 过来的 JSON 数据。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密码安全：bcryptjs 哈希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B03020"/>
                </a:solidFill>
                <a:latin typeface="微软雅黑"/>
                <a:ea typeface="微软雅黑"/>
              </a:rPr>
              <a:t>▪ 安全第一：绝不能明文存储用户密码！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▪ bcryptjs 把密码加密成“乱码”（哈希值）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单向过程：无法从乱码反推原始密码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即使数据库泄露，用户密码依然安全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核心两步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genSalt(10)：生成“盐值”（混淆因子）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hash(password, salt)：生成哈希密码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3864"/>
                </a:solidFill>
                <a:latin typeface="Consolas"/>
                <a:ea typeface="Consolas"/>
              </a:rPr>
              <a:t>npm install bcryptjs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创建用户模型 models/User.js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908792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99032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// models/User.js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const mongoose = require('mongoose');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const UserSchema = new mongoose.Schema({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 username: { type: String, required: true, unique: true },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 email:    { type: String, required: true, unique: true },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 password: { type: String, required: true },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}, { timestamps: true });  // 自动添加 createdAt / updatedAt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module.exports = mongoose.model('User', UserSchema);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41848"/>
            <a:ext cx="1090879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5A00"/>
                </a:solidFill>
                <a:latin typeface="微软雅黑"/>
                <a:ea typeface="微软雅黑"/>
              </a:rPr>
              <a:t>required：字段必填；unique：值唯一（如邮箱不允许重复注册）；timestamps：自动维护创建/更新时间。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注册路由：POST /api/register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4937760" cy="137160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457200" cy="1371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08760"/>
            <a:ext cx="4114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从请求体取出 username / email / password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4937760" cy="137160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457200" cy="1371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08760"/>
            <a:ext cx="4114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查重：邮箱或用户名已存在 → 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063240"/>
            <a:ext cx="4937760" cy="137160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063240"/>
            <a:ext cx="457200" cy="1371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200400"/>
            <a:ext cx="4114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创建新用户实例 new User({ ... })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063240"/>
            <a:ext cx="4937760" cy="137160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063240"/>
            <a:ext cx="457200" cy="1371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42900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200400"/>
            <a:ext cx="4114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密码哈希：genSalt(10) → hash()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754880"/>
            <a:ext cx="4937760" cy="137160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754880"/>
            <a:ext cx="457200" cy="1371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2064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92040"/>
            <a:ext cx="4114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保存到数据库 await user.save()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754880"/>
            <a:ext cx="4937760" cy="137160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754880"/>
            <a:ext cx="457200" cy="1371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512064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892040"/>
            <a:ext cx="4114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返回 201 Created 成功信息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运行与验证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▪ 重启服务器：Ctrl+C 停止 → node index.js 启动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看到这行输出，恭喜！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108960"/>
            <a:ext cx="10515600" cy="1463040"/>
          </a:xfrm>
          <a:prstGeom prst="rect">
            <a:avLst/>
          </a:prstGeom>
          <a:solidFill>
            <a:srgbClr val="E3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  <a:latin typeface="微软雅黑"/>
                <a:ea typeface="微软雅黑"/>
              </a:rPr>
              <a:t>✓ MongoDB connected successfully!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377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代码世界和数据世界已经成功握手！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>
                <a:solidFill>
                  <a:srgbClr val="8FAADC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测试我们的 API：Postman 与 curl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D9B33"/>
                </a:solidFill>
                <a:latin typeface="微软雅黑"/>
                <a:ea typeface="微软雅黑"/>
              </a:rPr>
              <a:t>专业 API 测试工具 · 命令行测试 · 约 20 分钟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方法一：Postman 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▪ 1. 下载安装 Postman，新建一个请求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▪ 2. 配置请求：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– 方法选 POST，URL 填 http://localhost:3000/api/register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– Body 标签 → 选 raw → 右侧选 JSON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– 输入要注册的用户信息（JSON）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▪ 3. 点击 Send，观察响应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554480"/>
            <a:ext cx="448056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691640"/>
            <a:ext cx="41148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  <a:latin typeface="Consolas"/>
                <a:ea typeface="Consolas"/>
              </a:rPr>
              <a:t>{
  "username": "test_student",
  "email": "student@test.com",
  "password": "a_secure_password123"
}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480560"/>
            <a:ext cx="10515600" cy="173736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6177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3864"/>
                </a:solidFill>
                <a:latin typeface="Consolas"/>
                <a:ea typeface="Consolas"/>
              </a:rPr>
              <a:t>成功 → Status: 201 Created  {"msg": "User registered successfully"}
重复注册 → Status: 400 Bad Request  {"msg": "Email already exists"}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去云端检查数据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▪ 回到 MongoDB Atlas 网站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Database → Browse Collections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看到 feynman-db 数据库和 users 集合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里面有刚刚创建的用户数据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E7D32"/>
                </a:solidFill>
                <a:latin typeface="微软雅黑"/>
                <a:ea typeface="微软雅黑"/>
              </a:rPr>
              <a:t>▪ 重点观察：password 字段是一长串乱码！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这就是 bcryptjs 哈希加密的成果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方法二：curl 命令行测试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908792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99032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curl -X POST http://localhost:3000/api/register \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 -H "Content-Type: application/json" \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 -d '{"username":"test_student","email":"student@test.com","password":"a_secure_password123"}'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# -X POST：指定 HTTP 方法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# -H：设置请求头，声明发送的是 JSON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# -d：请求体，即注册的用户信息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# 查看完整请求/响应（调试利器）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curl -v -X POST http://localhost:3000/api/register \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 -H "Content-Type: application/json" \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864"/>
                </a:solidFill>
                <a:latin typeface="Consolas"/>
                <a:ea typeface="Consolas"/>
              </a:rPr>
              <a:t>  -d '{"username":"another","email":"another@test.com","password":"password123"}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41848"/>
            <a:ext cx="1090879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5A00"/>
                </a:solidFill>
                <a:latin typeface="微软雅黑"/>
                <a:ea typeface="微软雅黑"/>
              </a:rPr>
              <a:t>重要：确保只有一个 node 进程在运行，多个进程会端口冲突或请求异常。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两种测试方法对比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55448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4297680"/>
              </a:tblGrid>
              <a:tr h="10972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工具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Postman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curl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特点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图形界面友好，适合初学者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无需安装，适合快速测试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优势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可保存/组织请求，测试功能丰富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可集成进脚本，服务器必备技能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82296" cy="146304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>
                <a:solidFill>
                  <a:srgbClr val="8FAADC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6118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课堂总结与作业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43484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D9B33"/>
                </a:solidFill>
                <a:latin typeface="微软雅黑"/>
                <a:ea typeface="微软雅黑"/>
              </a:rPr>
              <a:t>总结回顾 · 课后任务 · 下次课预告 · 15 分钟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今天的巨大进步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▪ 设计了第一个 RESTful API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▪ 连接了云数据库 MongoDB Atlas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▪ 用工业级安全标准（bcryptjs 哈希）实现了用户注册功能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▪ 现在的你，已经是一个初具雏形的后端工程师！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课后作业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▪ 必须完成</a:t>
            </a:r>
          </a:p>
          <a:p>
            <a:pPr lvl="1">
              <a:spcAft>
                <a:spcPts val="12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– 确保用户注册功能本地可运行，并能通过 Postman 创建用户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</a:rPr>
              <a:t>▪ 挑战任务（为下次课做准备）：实现用户登录 API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创建新路由 POST /api/login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接收 email 和 password → 按 email 查库 → 用户不存在返回错误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– 用 bcrypt.compare(password, user.password) 校验密码是否匹配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下次课预告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JWT（JSON Web Token）：登录成功后颁发“通行证”，实现真正的用户认证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▪ 核心业务开发：知识点的增删改查 API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选学：进阶技巧与最佳实践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109728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FAADC"/>
                </a:solidFill>
                <a:latin typeface="微软雅黑"/>
                <a:ea typeface="微软雅黑"/>
              </a:rPr>
              <a:t>02 · API 设计与数据库实战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▪ 错误处理与日志记录最佳实践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▪ API 响应格式标准化（统一 success / data / message / error）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▪ 代码分层组织：controllers / routes / middleware / utils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▪ Swagger / OpenAPI 交互式 API 文档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404040"/>
                </a:solidFill>
                <a:latin typeface="微软雅黑"/>
                <a:ea typeface="微软雅黑"/>
              </a:rPr>
              <a:t>▪ Jest + supertest 单元测试入门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45720"/>
          </a:xfrm>
          <a:prstGeom prst="rect">
            <a:avLst/>
          </a:prstGeom>
          <a:solidFill>
            <a:srgbClr val="ED9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谢谢 · 下次课见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FAADC"/>
                </a:solidFill>
                <a:latin typeface="微软雅黑"/>
                <a:ea typeface="微软雅黑"/>
              </a:rPr>
              <a:t>作业提交与答疑请随时联系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