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20624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82296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804672"/>
            <a:ext cx="128016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7132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3F0"/>
                </a:solidFill>
                <a:latin typeface="微软雅黑"/>
                <a:ea typeface="微软雅黑"/>
              </a:rPr>
              <a:t>《大前端与AI实战》实训课程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第一次课程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2D3EE"/>
                </a:solidFill>
                <a:latin typeface="微软雅黑"/>
                <a:ea typeface="微软雅黑"/>
              </a:rPr>
              <a:t>导论与后端初探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886200"/>
            <a:ext cx="1463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3F0"/>
                </a:solidFill>
                <a:latin typeface="微软雅黑"/>
                <a:ea typeface="微软雅黑"/>
              </a:rPr>
              <a:t>破冰之旅：从零搭建你的第一个后端服务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6D0"/>
                </a:solidFill>
                <a:latin typeface="微软雅黑"/>
                <a:ea typeface="微软雅黑"/>
              </a:rPr>
              <a:t>总时长 4 学时   ·   Node.js · Express · Git · AI 编程助手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本次课程目标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3A8"/>
                </a:solidFill>
                <a:latin typeface="微软雅黑"/>
                <a:ea typeface="微软雅黑"/>
              </a:rPr>
              <a:t>课程结束后，每位同学都应该能够：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121408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2140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66543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理解大前端与全栈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阐述「大前端」和「全栈」的基本概念，理解「费曼学习平台」的蓝图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28800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21408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066543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搭建开发环境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成功安装并配置好 Node.js、VS Code、Git 等核心开发工具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3602736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602736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5478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体验 AI 编程助手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体验 AI 编程助手的强大功能，并尝试用其辅助编码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310128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602736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02736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5478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创建 Node.js 项目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独立创建 Node.js 项目，并理解 package.json 文件的作用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91456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" y="5084064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5084064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292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运行第一个 API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使用 Express 框架编写并运行一个简单的「Hello World」后端服务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791456"/>
            <a:ext cx="5486400" cy="1325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5084064"/>
            <a:ext cx="731520" cy="7315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84064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50292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完成初次版本管理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使用 Git 对自己的项目进行初次版本管理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核心关键词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03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大前端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Big Front-End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087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1508760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783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Node.js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JavaScript 服务端运行时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8" y="15087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508760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783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npm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Node 包管理器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36391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36391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10711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Express.js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Node Web 框架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3136391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3136391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3410711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API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应用程序编程接口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3136391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0728" y="3136391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410711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Git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版本控制 · 时光机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64024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64024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38344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VS Code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我们的代码编辑器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764024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764024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6864" y="5038344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AI 编程助手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AI Coding Assistant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8" y="4764024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8" y="4764024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5038344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Gemini · Cursor · Trae</a:t>
            </a:r>
          </a:p>
          <a:p>
            <a:pPr algn="l"/>
            <a:r>
              <a:rPr sz="1150" b="0">
                <a:solidFill>
                  <a:srgbClr val="8A93A8"/>
                </a:solidFill>
                <a:latin typeface="微软雅黑"/>
                <a:ea typeface="微软雅黑"/>
              </a:rPr>
              <a:t>主流 AI 编程工具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课程目录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04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1536192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5361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36192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课程导论与项目展望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536192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30 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21992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" y="2340864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3408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环境搭建——磨刀不误砍柴工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40864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45 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26664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3145536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1455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145536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AI 编程助手——开启智能编码新时代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145536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45 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31336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" y="3950208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39502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950208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后端初探——创建第一个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950208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60 分钟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36008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" y="4754880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7548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754880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代码版本管理入门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754880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20 分钟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40680"/>
            <a:ext cx="10543032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264" y="5559552"/>
            <a:ext cx="420624" cy="42062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55595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559552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4A5E"/>
                </a:solidFill>
                <a:latin typeface="微软雅黑"/>
                <a:ea typeface="微软雅黑"/>
              </a:rPr>
              <a:t>课堂总结与作业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559552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15 分钟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9768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85800"/>
            <a:ext cx="3824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39468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课程导论与项目展望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F0"/>
                </a:solidFill>
                <a:latin typeface="微软雅黑"/>
                <a:ea typeface="微软雅黑"/>
              </a:rPr>
              <a:t>认识大前端与全栈，展望「费曼学习平台」的宏伟蓝图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4224528"/>
            <a:ext cx="1783080" cy="51206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224528"/>
            <a:ext cx="1783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约 30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598932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什么是「大前端」？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3F4A5E"/>
                </a:solidFill>
                <a:latin typeface="微软雅黑"/>
                <a:ea typeface="微软雅黑"/>
              </a:rPr>
              <a:t>大前端不只是写网页——前端工程师的职责边界正在不断扩大。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20116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2377440"/>
            <a:ext cx="4572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Web 端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我们最熟悉的网页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2148840"/>
            <a:ext cx="20116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6976" y="2377440"/>
            <a:ext cx="45720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6976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移动端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2148840"/>
            <a:ext cx="20116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9824" y="2377440"/>
            <a:ext cx="4572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桌面端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电脑软件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148840"/>
            <a:ext cx="20116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2377440"/>
            <a:ext cx="45720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3D 可视化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Three.js 知识宇宙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2148840"/>
            <a:ext cx="20116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0" y="2377440"/>
            <a:ext cx="4572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AI 集成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智能学习能力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34840"/>
            <a:ext cx="11091672" cy="969264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34840"/>
            <a:ext cx="1033272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掌握这些，你就不再是一个「切图仔」，而是能独当一面的全能型工程师！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费曼学习平台 · 核心学习流程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3F4A5E"/>
                </a:solidFill>
                <a:latin typeface="微软雅黑"/>
                <a:ea typeface="微软雅黑"/>
              </a:rPr>
              <a:t>核心思想：把知识「讲出来」——用你自己的话复述，才是真正掌握。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86000"/>
            <a:ext cx="3017520" cy="2103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0" y="25146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录入知识点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把要学习的知识点记录进平台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301752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286000"/>
            <a:ext cx="3017520" cy="2103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25146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375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录音复述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用你自己的话把它讲一遍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01752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286000"/>
            <a:ext cx="3017520" cy="2103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25146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3756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E2958"/>
                </a:solidFill>
                <a:latin typeface="微软雅黑"/>
                <a:ea typeface="微软雅黑"/>
              </a:rPr>
              <a:t>语音转文字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系统自动把音频转成文字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800600"/>
            <a:ext cx="99943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800600"/>
            <a:ext cx="9418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录音复述 + 语音转文字，是「费曼学习法」在平台上的第一步数字化落地。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AI 智能伙伴 · 智能出题与复习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08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4480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5486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8308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2958"/>
                </a:solidFill>
                <a:latin typeface="微软雅黑"/>
                <a:ea typeface="微软雅黑"/>
              </a:rPr>
              <a:t>私人学习教练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00096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2743200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AI 大模型自动润色你的复述文字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513328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3456432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根据你对知识点的理解程度打分与评价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226560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169664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像一个私人教练一样给出反馈建议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939792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4882896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让每一次复述都有即时、具体的收获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394960" cy="4480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1783080"/>
            <a:ext cx="548640" cy="54864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78308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2958"/>
                </a:solidFill>
                <a:latin typeface="微软雅黑"/>
                <a:ea typeface="微软雅黑"/>
              </a:rPr>
              <a:t>智能出题与复习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2800096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2743200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没掌握的知识点？别怕，AI 会帮你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3513328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8856" y="3456432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针对薄弱环节自动为你出题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226560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6" y="4169664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自动加入你的复习计划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939792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8856" y="4882896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一步一个脚印，直到真正掌握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炫酷可视化 · 跨平台体验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09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4480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2958"/>
                </a:solidFill>
                <a:latin typeface="微软雅黑"/>
                <a:ea typeface="微软雅黑"/>
              </a:rPr>
              <a:t>知识图谱 · 3D 知识宇宙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708656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651760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所有知识点不再孤立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421887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3364991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用「知识图谱」把它们连接起来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135120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078224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用 Three.js 创造 3D 知识宇宙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848352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791456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让知识结构「看得见、转得动」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394960" cy="4480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2958"/>
                </a:solidFill>
                <a:latin typeface="微软雅黑"/>
                <a:ea typeface="微软雅黑"/>
              </a:rPr>
              <a:t>一套代码 · 多端体验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708656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6" y="2651760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浏览器里直接使用（Web 版）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421887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6" y="3364991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可以打包成电脑桌面软件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4135120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4078224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可以在手机上像 App 一样使用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4848352"/>
            <a:ext cx="82296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8856" y="4791456"/>
            <a:ext cx="46268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跨平台，是「大前端」的看家本领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9768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85800"/>
            <a:ext cx="3824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39468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F0"/>
                </a:solidFill>
                <a:latin typeface="微软雅黑"/>
                <a:ea typeface="微软雅黑"/>
              </a:rPr>
              <a:t>磨刀不误砍柴工——打造我们的「兵工厂」：Node.js、VS Code、Git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4224528"/>
            <a:ext cx="1783080" cy="51206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224528"/>
            <a:ext cx="1783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约 45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598932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安装 Node.js（JavaScript 的「超能力引擎」）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08792" cy="100584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Node.js 让 JavaScript 不再局限于浏览器，可以在服务器上运行——用 JS 写后端！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3383280" cy="13716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① 打开官网</a:t>
            </a:r>
          </a:p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访问 nodejs.org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3383280" cy="13716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② 下载 LTS 版</a:t>
            </a:r>
          </a:p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长期支持版，最稳定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651760"/>
            <a:ext cx="3383280" cy="13716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③ 双击安装</a:t>
            </a:r>
          </a:p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一路「下一步」即可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F4A5E"/>
                </a:solidFill>
                <a:latin typeface="微软雅黑"/>
                <a:ea typeface="微软雅黑"/>
              </a:rPr>
              <a:t>验证安装——打开命令行，输入：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6035040" cy="118872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92040"/>
            <a:ext cx="552297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node -v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npm -v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# 看到版本号（如 v18.18.0）即安装成功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709160"/>
            <a:ext cx="45994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709160"/>
            <a:ext cx="4114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E2958"/>
                </a:solidFill>
                <a:latin typeface="微软雅黑"/>
                <a:ea typeface="微软雅黑"/>
              </a:rPr>
              <a:t>npm 是 Node.js 的「应用商店」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后面我们会用它安装各种开发工具。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安装 VS Code（我们的「代码编辑器」）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12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08792" cy="9144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一个好的编辑器能让写代码事半功倍。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F4A5E"/>
                </a:solidFill>
                <a:latin typeface="微软雅黑"/>
                <a:ea typeface="微软雅黑"/>
              </a:rPr>
              <a:t>操作指引：从官网 code.visualstudio.com 下载并安装。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推荐插件（在 VS Code 扩展商店中搜索安装）：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338328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77639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2958"/>
                </a:solidFill>
                <a:latin typeface="微软雅黑"/>
                <a:ea typeface="微软雅黑"/>
              </a:rPr>
              <a:t>Chinese (Simplified) Language Pack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中文汉化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49039"/>
            <a:ext cx="338328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3977639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2958"/>
                </a:solidFill>
                <a:latin typeface="微软雅黑"/>
                <a:ea typeface="微软雅黑"/>
              </a:rPr>
              <a:t>Prettier - Code formatter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代码美化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3749039"/>
            <a:ext cx="338328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39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2958"/>
                </a:solidFill>
                <a:latin typeface="微软雅黑"/>
                <a:ea typeface="微软雅黑"/>
              </a:rPr>
              <a:t>ESLint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代码规范检查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小提示：安装完成后，今后我们所有的代码都在 VS Code 里编写。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安装 Git（代码的「时光机」）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13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08792" cy="11430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Git 是版本控制工具：记录每一次代码修改。写错了？一键回到任何版本。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3383280" cy="14630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记录修改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每一次代码改动都被完整记录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34640"/>
            <a:ext cx="3383280" cy="14630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063240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一键回退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写错了？随时回到之前的版本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834640"/>
            <a:ext cx="3383280" cy="14630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3063240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33756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团队协作</a:t>
            </a:r>
          </a:p>
          <a:p>
            <a:pPr algn="l"/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它是多人协作开发的基石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F4A5E"/>
                </a:solidFill>
                <a:latin typeface="微软雅黑"/>
                <a:ea typeface="微软雅黑"/>
              </a:rPr>
              <a:t>操作指引：从官网 git-scm.com/downloads 下载安装，验证：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74920"/>
            <a:ext cx="6035040" cy="82296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257800"/>
            <a:ext cx="5522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git --version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# 看到版本号即安装成功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9768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85800"/>
            <a:ext cx="3824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39468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AI 编程助手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F0"/>
                </a:solidFill>
                <a:latin typeface="微软雅黑"/>
                <a:ea typeface="微软雅黑"/>
              </a:rPr>
              <a:t>开启智能编码新时代——一个 24 小时在线的「编程专家」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4224528"/>
            <a:ext cx="1783080" cy="51206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224528"/>
            <a:ext cx="1783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约 45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598932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什么是 AI 编程助手？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15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908792" cy="13716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想象一下：一位资深编程专家，24 小时坐在你旁边，随时准备回答你的问题、帮你写代码、修复错误，甚至给你提建议。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0908792" cy="822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300984"/>
            <a:ext cx="347472" cy="34747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009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6324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能理解你的意图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6324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AI 学习海量代码，能理解你的意图，生成高质量代码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0908792" cy="822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261104"/>
            <a:ext cx="347472" cy="347472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2336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让开发更快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02336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自动补全、生成、解释、优化，大幅提升学习和开发效率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10908792" cy="822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5221224"/>
            <a:ext cx="347472" cy="34747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212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8348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58"/>
                </a:solidFill>
                <a:latin typeface="微软雅黑"/>
                <a:ea typeface="微软雅黑"/>
              </a:rPr>
              <a:t>绝佳的学习工具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983480"/>
            <a:ext cx="6217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帮助你理解代码、学习最佳实践，而不只是「抄答案」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主流 AI 编程工具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16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0879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82496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VS Code 插件（推荐初学者）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Gemini Code Assist / GitHub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82496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无缝集成在你熟悉的环境里：写一行注释，自动补全整个代码块；选中代码，让它帮你解释、优化、找 bug。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99232"/>
            <a:ext cx="1090879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73152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1868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AI 原生编辑器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18688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专门为 AI 交互而生的编辑器：深度整合 AI 聊天，可以「@」项目中的文件向 AI 提问，让它重构和修改代码。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35424"/>
            <a:ext cx="1090879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35424"/>
            <a:ext cx="73152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其他平台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Trae CN / trae.ai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754880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同样优秀的 AI 编程平台，提供强大的代码生成和理解能力，大家课后可以自行探索。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现场演示：以 Gemini Code Assist 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17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94960" cy="12344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463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第 1 步 · 安装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VS Code 扩展商店搜索「Gemini」，找到 Google 官方插件点击安装。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239512" cy="12344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69087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第 3 步 · 让 AI 解释代码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选中不理解的代码（如 app.listen），右键「Gemini: Explain Selection」，用自然语言解释给你听。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E2958"/>
                </a:solidFill>
                <a:latin typeface="微软雅黑"/>
                <a:ea typeface="微软雅黑"/>
              </a:rPr>
              <a:t>第 2 步 · 注释生成代码：先写一行注释，再按 Tab 键自动补全完整代码：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0908792" cy="141732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74720"/>
            <a:ext cx="1039672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// 创建一个GET路由，路径为 /test，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// 返回一个JSON对象：{ message: 'AI is awesome!' }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app.get('/test', (req, res) =&gt; {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  res.json({ message: 'AI is awesome!' });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});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29200"/>
            <a:ext cx="10908792" cy="100584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学生动手 10 分钟：安装 Gemini Code Assist 插件并登录，全程开启 AI 助手完成后续练习。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AI 辅助编程的黄金法则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18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64792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你是机长，AI 是副驾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你才是代码的最终负责人，采纳、修改和提交的决定权永远在你手里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08760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1144" y="1764792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057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永不轻信，务必验证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AI 生成的代码可能有错甚至存在安全漏洞，绝对不能不经思考直接复制粘贴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8" y="1508760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85048" y="1764792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057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垃圾输入，垃圾输出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指令（Prompt）越清晰、越具体，AI 给你的代码质量就越高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33672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用于学习，而非作弊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让 AI 解释不懂的代码，把它当成 24 小时的耐心老师，而不是枪手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3977639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81144" y="4233672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526279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遵守规范，聚焦问题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只修改和问题相关的代码或文件，无关内容绝不触碰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3977639"/>
            <a:ext cx="3566160" cy="22402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5048" y="4233672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4526279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文档先行，持续同步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先生成开发和技术文档，功能变更时必须同步更新文档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高效的人机协作开发流程（七步法）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19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60020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" y="182880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42316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需求定义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要求 AI 生成详细的开发文档 / PRD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160020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3864" y="182880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42316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审核与修订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仔细审核，提出修改要求，迭代到满意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0020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82880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任务分解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拆解任务，生成功能开发计划文档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60020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26296" y="182880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42316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编码与测试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优先编写核心功能，随即严格测试审核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5891" y="361188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04491" y="384048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4491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4491" y="44348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迭代开发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模块验证通过后，再做下一个功能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47107" y="361188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75707" y="384048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5707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5707" y="44348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全面集成测试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功能齐全后回归测试，可写自动化脚本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18323" y="361188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46923" y="3840480"/>
            <a:ext cx="457200" cy="4572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6923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6923" y="44348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部署发布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所有测试通过后，部署上线呈现给世界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提示：七步法的核心是「人机协作」——每一步都由你审核把关，AI 负责生成与执行。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9768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85800"/>
            <a:ext cx="3824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39468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后端初探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F0"/>
                </a:solidFill>
                <a:latin typeface="微软雅黑"/>
                <a:ea typeface="微软雅黑"/>
              </a:rPr>
              <a:t>创建第一个 API——让我们亲手敲出第一行后端代码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4224528"/>
            <a:ext cx="1783080" cy="51206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224528"/>
            <a:ext cx="1783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约 60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598932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第一步：创建项目文件夹并初始化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6766560" cy="868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① 创建项目文件夹   </a:t>
            </a: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新建文件夹并命名为 feynman-platform-backend，用 VS Code 打开（文件 → 打开文件夹）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6766560" cy="868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② 打开集成终端   </a:t>
            </a: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在 VS Code 中打开集成终端：视图 → 终端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6766560" cy="868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11296"/>
            <a:ext cx="6217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③ 初始化项目   </a:t>
            </a: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在终端中输入 npm init -y，生成 package.json 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63040"/>
            <a:ext cx="3867912" cy="123444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1645920"/>
            <a:ext cx="335584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npm init -y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# -y：自动回答所有问题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971800"/>
            <a:ext cx="386791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246120"/>
            <a:ext cx="324612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package.json 是什么？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· 项目的「身份证」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· 记录项目的名字、版本等信息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· 记录项目依赖了哪些工具包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· 别人拿到项目后 npm install 即可安装全部依赖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第二步：安装 Express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22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08792" cy="109728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10241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从零写一个服务器太复杂。Express 是流行的 Node.js 框架，帮我们简化大量工作，专注业务逻辑。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5394960" cy="105156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4882896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npm install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39496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E2958"/>
                </a:solidFill>
                <a:latin typeface="微软雅黑"/>
                <a:ea typeface="微软雅黑"/>
              </a:rPr>
              <a:t>这条命令做了什么？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· 从 npm 仓库下载 express 工具包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· 自动记录到 package.json 的依赖列表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523951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08960"/>
            <a:ext cx="46177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node_modules 文件夹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安装完你会看到多了一个 node_modules 文件夹——我们所有的「工具」都放在这里。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注意：这个文件夹体积非常大，后面用 Git 管理代码时我们会「忽略」它。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第三步：编写服务器代码 index.js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F4A5E"/>
                </a:solidFill>
                <a:latin typeface="微软雅黑"/>
                <a:ea typeface="微软雅黑"/>
              </a:rPr>
              <a:t>在项目根目录新建 index.js，把下面的代码敲进去：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0784"/>
            <a:ext cx="6903720" cy="475488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83664"/>
            <a:ext cx="6391656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1. 引入 express 工具包（CommonJS 规范）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const express = require('express');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2. 创建 express 应用实例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const app = express();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3. 定义服务器端口号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const port = 3000;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4. 定义 API：访问根路径 '/' 时如何回应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   req: 收到的请求信息   res: 要发出的回应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app.get('/', (req, res) =&gt; {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  res.send('Hello, Feynman Learner!');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});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7EC899"/>
                </a:solidFill>
                <a:latin typeface="Consolas"/>
                <a:ea typeface="Consolas"/>
              </a:rPr>
              <a:t>// 5. 启动服务器，监听端口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app.listen(port, () =&gt; {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  console.log(`Feynman Platform backend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    is running at http://localhost:${port}`);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E6EAF5"/>
                </a:solidFill>
                <a:latin typeface="Consolas"/>
                <a:ea typeface="Consolas"/>
              </a:rPr>
              <a:t>});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700784"/>
            <a:ext cx="3730752" cy="47548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200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58"/>
                </a:solidFill>
                <a:latin typeface="微软雅黑"/>
                <a:ea typeface="微软雅黑"/>
              </a:rPr>
              <a:t>代码要点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require</a:t>
            </a: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：CommonJS 模块规范引入工具包；未来会接触 import（ESM）写法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app.get</a:t>
            </a: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：定义 GET 路由，访问 / 时执行回调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req / res</a:t>
            </a: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：请求与响应对象，一个收、一个发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app.listen</a:t>
            </a:r>
            <a:r>
              <a:rPr sz="1150" b="0">
                <a:solidFill>
                  <a:srgbClr val="3F4A5E"/>
                </a:solidFill>
                <a:latin typeface="微软雅黑"/>
                <a:ea typeface="微软雅黑"/>
              </a:rPr>
              <a:t>：启动服务器并监听 3000 端口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代码要点详解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24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2880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4572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Consolas"/>
                <a:ea typeface="Consolas"/>
              </a:rPr>
              <a:t>require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引入模块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CommonJS 规范；未来会见到 import（ESM）写法，功能类似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82880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26663" y="2103120"/>
            <a:ext cx="457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3" y="237744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Consolas"/>
                <a:ea typeface="Consolas"/>
              </a:rPr>
              <a:t>req / res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请求与响应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req 是收到的请求信息，res 是要发出去的回应信息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82880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1807" y="2103120"/>
            <a:ext cx="4572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237744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Consolas"/>
                <a:ea typeface="Consolas"/>
              </a:rPr>
              <a:t>app.get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定义路由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当有人访问指定路径时，执行对应的处理函数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82880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16951" y="2103120"/>
            <a:ext cx="457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1" y="237744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Consolas"/>
                <a:ea typeface="Consolas"/>
              </a:rPr>
              <a:t>res.send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发送响应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向浏览器发送响应内容，这里是 Hello 文本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6063" y="1828800"/>
            <a:ext cx="2103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12095" y="2103120"/>
            <a:ext cx="4572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5" y="237744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E2958"/>
                </a:solidFill>
                <a:latin typeface="Consolas"/>
                <a:ea typeface="Consolas"/>
              </a:rPr>
              <a:t>app.listen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微软雅黑"/>
                <a:ea typeface="微软雅黑"/>
              </a:rPr>
              <a:t>启动服务器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F4A5E"/>
                </a:solidFill>
                <a:latin typeface="微软雅黑"/>
                <a:ea typeface="微软雅黑"/>
              </a:rPr>
              <a:t>让服务器开始监听指定端口（3000），等待访问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4937760"/>
            <a:ext cx="11237976" cy="1051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2958"/>
                </a:solidFill>
                <a:latin typeface="微软雅黑"/>
                <a:ea typeface="微软雅黑"/>
              </a:rPr>
              <a:t>小知识：</a:t>
            </a: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res.send 与 res.json 的区别——前者发送文本等内容，后者发送 JSON 数据。课后作业的 /user 接口就会用到 res.json！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第四步：运行你的第一个服务器！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4A5E"/>
                </a:solidFill>
                <a:latin typeface="微软雅黑"/>
                <a:ea typeface="微软雅黑"/>
              </a:rPr>
              <a:t>代码写完后保存文件，在终端里启动它：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577840" cy="77724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5065775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6EAF5"/>
                </a:solidFill>
                <a:latin typeface="Consolas"/>
                <a:ea typeface="Consolas"/>
              </a:rPr>
              <a:t>$ node index.js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3A8"/>
                </a:solidFill>
                <a:latin typeface="微软雅黑"/>
                <a:ea typeface="微软雅黑"/>
              </a:rPr>
              <a:t>终端打印出：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6217920" cy="132588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83280"/>
            <a:ext cx="5705856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Feynman Platform backend is running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7EC899"/>
                </a:solidFill>
                <a:latin typeface="Consolas"/>
                <a:ea typeface="Consolas"/>
              </a:rPr>
              <a:t>at http://localhost:3000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4233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3A8"/>
                </a:solidFill>
                <a:latin typeface="微软雅黑"/>
                <a:ea typeface="微软雅黑"/>
              </a:rPr>
              <a:t>浏览器验证：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148840"/>
            <a:ext cx="423367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148840"/>
            <a:ext cx="4233672" cy="457200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2267712"/>
            <a:ext cx="219456" cy="219456"/>
          </a:xfrm>
          <a:prstGeom prst="ellipse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0688" y="2267712"/>
            <a:ext cx="219456" cy="219456"/>
          </a:xfrm>
          <a:prstGeom prst="ellipse">
            <a:avLst/>
          </a:prstGeom>
          <a:solidFill>
            <a:srgbClr val="F0B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83296" y="2267712"/>
            <a:ext cx="219456" cy="219456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212848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A93A8"/>
                </a:solidFill>
                <a:latin typeface="Consolas"/>
                <a:ea typeface="Consolas"/>
              </a:rPr>
              <a:t>http://localhost:3000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71800"/>
            <a:ext cx="35661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300" b="1">
                <a:solidFill>
                  <a:srgbClr val="1E2958"/>
                </a:solidFill>
                <a:latin typeface="微软雅黑"/>
                <a:ea typeface="微软雅黑"/>
              </a:rPr>
              <a:t>Hello,</a:t>
            </a:r>
          </a:p>
          <a:p>
            <a:pPr algn="l">
              <a:lnSpc>
                <a:spcPct val="110000"/>
              </a:lnSpc>
            </a:pPr>
            <a:r>
              <a:rPr sz="2300" b="1">
                <a:solidFill>
                  <a:srgbClr val="1E2958"/>
                </a:solidFill>
                <a:latin typeface="微软雅黑"/>
                <a:ea typeface="微软雅黑"/>
              </a:rPr>
              <a:t>Feynman Learner!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08792" cy="100584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恭喜！你的第一个后端服务器已经成功运行——这正是 API 返回的内容！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2A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457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97680"/>
            <a:ext cx="1737360" cy="1737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188720" cy="118872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85800"/>
            <a:ext cx="3824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39468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代码版本管理入门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F0"/>
                </a:solidFill>
                <a:latin typeface="微软雅黑"/>
                <a:ea typeface="微软雅黑"/>
              </a:rPr>
              <a:t>用 Git 这个「时光机」，给我们的第一版代码拍个快照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4224528"/>
            <a:ext cx="1783080" cy="51206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224528"/>
            <a:ext cx="1783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约 20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598932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Git 快照五步走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27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9087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246120" cy="841248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E6EAF5"/>
                </a:solidFill>
                <a:latin typeface="Consolas"/>
                <a:ea typeface="Consolas"/>
              </a:rPr>
              <a:t>git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1732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初始化仓库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在当前文件夹创建 .git 隐藏目录，「时光机」正式启动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95728"/>
            <a:ext cx="109087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3246120" cy="841248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95728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E6EAF5"/>
                </a:solidFill>
                <a:latin typeface="Consolas"/>
                <a:ea typeface="Consolas"/>
              </a:rPr>
              <a:t>.gitignore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95728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创建忽略文件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95728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写入 node_modules——告诉 Git 哪些东西「不用拍」，保持仓库干净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74136"/>
            <a:ext cx="109087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374136"/>
            <a:ext cx="3246120" cy="841248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74136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E6EAF5"/>
                </a:solidFill>
                <a:latin typeface="Consolas"/>
                <a:ea typeface="Consolas"/>
              </a:rPr>
              <a:t>git add 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74136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添加到暂存区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74136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把这些文件的当前状态，加入下一次快照（. 表示所有文件）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52544"/>
            <a:ext cx="109087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352544"/>
            <a:ext cx="3246120" cy="841248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52544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E6EAF5"/>
                </a:solidFill>
                <a:latin typeface="Consolas"/>
                <a:ea typeface="Consolas"/>
              </a:rPr>
              <a:t>git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52544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提交快照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52544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按下快门，真正生成一个版本；-m 后写清楚这次修改的描述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30952"/>
            <a:ext cx="109087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330952"/>
            <a:ext cx="3246120" cy="841248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30952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E6EAF5"/>
                </a:solidFill>
                <a:latin typeface="Consolas"/>
                <a:ea typeface="Consolas"/>
              </a:rPr>
              <a:t>类型: 描述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330952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提交信息规范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30952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F4A5E"/>
                </a:solidFill>
                <a:latin typeface="微软雅黑"/>
                <a:ea typeface="微软雅黑"/>
              </a:rPr>
              <a:t>如 feat: setup basic express server and hello world api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Git 提交信息规范：类型 + 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3F4A5E"/>
                </a:solidFill>
                <a:latin typeface="微软雅黑"/>
                <a:ea typeface="微软雅黑"/>
              </a:rPr>
              <a:t>提交信息格式：类型: 具体描述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48255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5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048255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新功能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07208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7" y="2980944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80944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980944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修复 bug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9896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7" y="3913632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913632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913632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文档更新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72583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7" y="4846320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846320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846320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代码格式调整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01968" y="2048255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048255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refactor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048255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重构代码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807208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01968" y="2980944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2980944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980944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测试相关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739896"/>
            <a:ext cx="5148072" cy="7772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01968" y="3913632"/>
            <a:ext cx="1234440" cy="429768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913632"/>
            <a:ext cx="12344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  <a:ea typeface="Consolas"/>
              </a:rPr>
              <a:t>chore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913632"/>
            <a:ext cx="33832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构建过程或辅助工具的变动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120640"/>
            <a:ext cx="5148072" cy="868680"/>
          </a:xfrm>
          <a:prstGeom prst="roundRect">
            <a:avLst/>
          </a:prstGeom>
          <a:solidFill>
            <a:srgbClr val="1A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5303520"/>
            <a:ext cx="4636008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E6EAF5"/>
                </a:solidFill>
                <a:latin typeface="Consolas"/>
                <a:ea typeface="Consolas"/>
              </a:rPr>
              <a:t>$ git commit -m "feat: setup basic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E6EAF5"/>
                </a:solidFill>
                <a:latin typeface="Consolas"/>
                <a:ea typeface="Consolas"/>
              </a:rPr>
              <a:t>  express server and hello world api"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120640"/>
            <a:ext cx="514807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20640"/>
            <a:ext cx="4599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958"/>
                </a:solidFill>
                <a:latin typeface="微软雅黑"/>
                <a:ea typeface="微软雅黑"/>
              </a:rPr>
              <a:t>好的提交信息，让「回顾历史」变得轻松。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课堂总结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29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08792" cy="62179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636776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367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63040"/>
            <a:ext cx="9966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F4A5E"/>
                </a:solidFill>
                <a:latin typeface="微软雅黑"/>
                <a:ea typeface="微软雅黑"/>
              </a:rPr>
              <a:t>了解「大前端」的宏伟蓝图与费曼学习平台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10908792" cy="62179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386584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12848"/>
            <a:ext cx="9966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F4A5E"/>
                </a:solidFill>
                <a:latin typeface="微软雅黑"/>
                <a:ea typeface="微软雅黑"/>
              </a:rPr>
              <a:t>搭建开发环境：Node.js、VS Code、Git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62656"/>
            <a:ext cx="10908792" cy="62179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136392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1363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62656"/>
            <a:ext cx="9966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F4A5E"/>
                </a:solidFill>
                <a:latin typeface="微软雅黑"/>
                <a:ea typeface="微软雅黑"/>
              </a:rPr>
              <a:t>认识 AI 编程助手与「黄金法则」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12464"/>
            <a:ext cx="10908792" cy="62179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12464"/>
            <a:ext cx="9966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F4A5E"/>
                </a:solidFill>
                <a:latin typeface="微软雅黑"/>
                <a:ea typeface="微软雅黑"/>
              </a:rPr>
              <a:t>用 Express 成功启动第一个后端 API 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62272"/>
            <a:ext cx="10908792" cy="62179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4636008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6360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62272"/>
            <a:ext cx="9966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3F4A5E"/>
                </a:solidFill>
                <a:latin typeface="微软雅黑"/>
                <a:ea typeface="微软雅黑"/>
              </a:rPr>
              <a:t>用 Git 为代码拍下了第一张「快照」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9240"/>
            <a:ext cx="10908792" cy="9144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4924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这是我们万里长征的第一步，也是最重要的一步！大家做得非常棒！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课后作业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30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22860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1371600" cy="4114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必须完成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F4A5E"/>
                </a:solidFill>
                <a:latin typeface="微软雅黑"/>
                <a:ea typeface="微软雅黑"/>
              </a:rPr>
              <a:t>确保开发环境和 AI 编程助手插件全部搭建成功，并能独立将今天的「Hello World」服务器跑起来。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239512" cy="22860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691640"/>
            <a:ext cx="1737360" cy="41148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958"/>
                </a:solidFill>
                <a:latin typeface="微软雅黑"/>
                <a:ea typeface="微软雅黑"/>
              </a:rPr>
              <a:t>挑战任务（选做）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6908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在 AI 助手帮助下添加新 API：访问 http://localhost:3000/user 时返回 { "name": "YourName", "major": "YourMajor"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109087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E2958"/>
                </a:solidFill>
                <a:latin typeface="微软雅黑"/>
                <a:ea typeface="微软雅黑"/>
              </a:rPr>
              <a:t>挑战提示：</a:t>
            </a:r>
            <a:r>
              <a:rPr sz="1250" b="0">
                <a:solidFill>
                  <a:srgbClr val="3F4A5E"/>
                </a:solidFill>
                <a:latin typeface="微软雅黑"/>
                <a:ea typeface="微软雅黑"/>
              </a:rPr>
              <a:t>可以问 AI「如何用 express 返回 json 数据」，然后使用 app.get('/user', ...) 和 res.json(...) 完成。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请遵循黄金法则：你是机长，AI 是副驾——生成的代码一定要自己审查、理解并测试！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772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958"/>
                </a:solidFill>
                <a:latin typeface="微软雅黑"/>
                <a:ea typeface="微软雅黑"/>
              </a:rPr>
              <a:t>下次课预告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0292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A93A8"/>
                </a:solidFill>
                <a:latin typeface="微软雅黑"/>
                <a:ea typeface="微软雅黑"/>
              </a:rPr>
              <a:t>《大前端与AI实战》第一次课程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3112" cy="14630"/>
          </a:xfrm>
          <a:prstGeom prst="rect">
            <a:avLst/>
          </a:prstGeom>
          <a:solidFill>
            <a:srgbClr val="D6D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A93A8"/>
                </a:solidFill>
                <a:latin typeface="微软雅黑"/>
                <a:ea typeface="微软雅黑"/>
              </a:rPr>
              <a:t>31 /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08792" cy="1371600"/>
          </a:xfrm>
          <a:prstGeom prst="round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下一次课，我们将深入学习 RESTful API 的设计，并引入数据库 MongoDB，开始为费曼平台设计真正的数据存储功能！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33832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RESTful API 设计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用规范的风格设计我们的接口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83280"/>
            <a:ext cx="33832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611880"/>
            <a:ext cx="50292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8862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MongoDB 数据库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为平台引入真正的数据存储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3383280"/>
            <a:ext cx="33832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3611880"/>
            <a:ext cx="5029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8862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58"/>
                </a:solidFill>
                <a:latin typeface="微软雅黑"/>
                <a:ea typeface="微软雅黑"/>
              </a:rPr>
              <a:t>用户注册与登录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F4A5E"/>
                </a:solidFill>
                <a:latin typeface="微软雅黑"/>
                <a:ea typeface="微软雅黑"/>
              </a:rPr>
              <a:t>开始实现核心业务功能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3A8"/>
                </a:solidFill>
                <a:latin typeface="微软雅黑"/>
                <a:ea typeface="微软雅黑"/>
              </a:rPr>
              <a:t>课后记得完成作业，带着你的第一个服务器和满肚子的疑问来上课！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480560"/>
            <a:ext cx="1554480" cy="15544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noFill/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C9D3F0"/>
                </a:solidFill>
                <a:latin typeface="微软雅黑"/>
                <a:ea typeface="微软雅黑"/>
              </a:rPr>
              <a:t>Q &amp; A · 答疑环节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6D0"/>
                </a:solidFill>
                <a:latin typeface="微软雅黑"/>
                <a:ea typeface="微软雅黑"/>
              </a:rPr>
              <a:t>《大前端与AI实战》第一次课程 · 导论与后端初探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